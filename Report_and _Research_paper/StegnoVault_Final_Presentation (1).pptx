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35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38B5-A1BA-39A6-793C-BC24ED31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B64D-6398-0D3B-4C8B-DE8761502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41264-928B-C1E4-DFA5-9D958CE58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93E10-EC49-469E-5933-C84FBDECA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07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149504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
Final Year Project Seminar
On
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2030882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“StegnoVault: Secure Data Transmission using LSB Steganography,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AES-256 Encryption &amp; Genetic Algorithm Optimization in Java”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5971" y="327263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Prof. Yogita More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353487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200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1) Shweta Chounde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2) Tanuja Dhere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3) Om Gaikwad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4) Zohaib Khan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pic>
        <p:nvPicPr>
          <p:cNvPr id="12" name="image1.jpeg">
            <a:extLst>
              <a:ext uri="{FF2B5EF4-FFF2-40B4-BE49-F238E27FC236}">
                <a16:creationId xmlns:a16="http://schemas.microsoft.com/office/drawing/2014/main" id="{9C48A824-548F-B717-D252-117D04852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7179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Project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Requirements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of Existing System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602175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Impact of Project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11" name="image1.jpeg">
            <a:extLst>
              <a:ext uri="{FF2B5EF4-FFF2-40B4-BE49-F238E27FC236}">
                <a16:creationId xmlns:a16="http://schemas.microsoft.com/office/drawing/2014/main" id="{4DA3B710-4552-60E1-461C-4170F483B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773936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Steganography System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Enables secure communication by hiding confidential information within digital media (images, audio, video), ensuring data secrecy and integrity.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 Security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Protects sensitive data from unauthorized access and cyber threats through AES-256 encryption combined with LSB steganography.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 Algorithm Optimization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Selects high-entropy, spatially distributed pixel positions for embedding, making hidden data statistically undetectable.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Web-Based Platform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Built on Java Spring Boot; accessible through any standard web browser without local installation, with role-based access and OTP verification.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Confidential Communication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Strengthens secure data exchange between authorized users, ensuring privacy and trust in digital communication.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FDA7673E-F466-BE5E-3CB4-4897A3855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9164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 STATEMENT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947672"/>
            <a:ext cx="861090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develop and deploy a web-based Secure Data Transmission System using Data Steganography that integrates AES-256 encryption, Genetic Algorithm optimization, and LSB embedding across image, audio, and video media, ensuring the hidden data is resilient to detection and extraction by unauthorized parties, while providing enterprise-grade user authentication, role-based access control, and a complete operation audit trail.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1D463A9C-5594-A5E1-30CA-A31ABB1CC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solidFill>
            <a:srgbClr val="FAC09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41655" y="1066190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study and analyze existing methods of image, audio, and video steganography.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 secure model combining AES-256 encryption, LSB embedding, and Genetic Algorithm optimization.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a unified web-based system for hiding and extracting text in images, audio, and video files.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ensure data integrity and imperceptibility of hidden content (PSNR &gt; 50 dB).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evaluate performance using metrics such as PSNR, MSE, and steganalysis resistance.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develop a Spring Boot web interface with OTP verification, BCrypt hashing, RBAC, and Admin governance.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6BB31912-39A4-CD3D-FB5C-FF7EE48D5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" y="157714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PROJECT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66547" y="1797422"/>
            <a:ext cx="861090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Data Transmission: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Embeds secret messages inside media files (images, audio, video) so sensitive data travels covertly across public networks without detection.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Roles and Access: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Sender encodes with AES key; Receiver extracts using the same key. Admin manages users, bans/unbans accounts, and monitors all activity.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Supported Media Formats: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supports JPEG, PNG (image), WAV (audio), and MP4 (video) for embedding and extraction of hidden data.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AES-256 encryption, GA-optimized pixel selection, BCrypt hashing, OTP email verification, and Spring Security RBAC ensure multi-layer protection.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Web-Based Deployment: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Accessible through any browser — no local installation required. Spring Boot embedded Tomcat serves the full application.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976F5572-9EF6-AD4D-77DB-BFE1B965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 SURVEY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4007"/>
              </p:ext>
            </p:extLst>
          </p:nvPr>
        </p:nvGraphicFramePr>
        <p:xfrm>
          <a:off x="182880" y="1766316"/>
          <a:ext cx="8778240" cy="30327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Sr. No.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Authors &amp; Year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Focus/Topics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Primary Contribution / Outcome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Mahajan et al. (2024)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LSB image steganography in Java over public networks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payload capacity; shared AES key for authenticated access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GA; desktop-only; no web access; no audio/video support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et al. (2025)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Comparison of DES, 3DES, AES, ECC algorithms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AES-256 confirmed as optimal: best security-performance balance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Encryption only; no steganography integration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Kumar et al. (2022)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DeepGA-Stego: CNN + GA hybrid embedding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GA-selected high-entropy pixels; superior PSNR vs sequential LSB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overhead; not web-based; no unified multi-media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Zhang et al. (2023)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Multimedia stego with deep learning and GA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AES+GA resists chi-squared and RS steganalysis; multi-media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Encoder-decoder model impractical; no web deployment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Rahman et al. (2023)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HC-LSBIS-MLE-AC: Huffman + LSB + multi-level encryption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Average PSNR 79.29 dB over 165 test images; low bit modification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Achromatic channel only; complex key exchange; no audio/video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90C72CE7-6CCD-D2D8-E25C-2B412209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138428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REQUIREMENTS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66547" y="1752520"/>
            <a:ext cx="86109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495" y="1788856"/>
            <a:ext cx="861090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 Language: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Java 17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Spring Boot 3.x · Spring Security · Spring Mail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Tool: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Maven · Embedded Apache Tomcat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MySQL 8.0 · JPA / Hibernate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HTML5 · CSS3 · JavaScript ES6+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IntelliJ IDEA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Libraries: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javax.imageio · Spring Mail · JavaCV (audio/video)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495" y="3443197"/>
            <a:ext cx="86109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r>
              <a:rPr lang="en-US" sz="1425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Requirements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304495" y="3770336"/>
            <a:ext cx="861090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Processor: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Intel Core i5 or higher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8 GB minimum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Disk: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500 GB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Windows 10+ / Ubuntu 20.04+
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Browser: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Chrome · Firefox · Edge · Safari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13" name="image1.jpeg">
            <a:extLst>
              <a:ext uri="{FF2B5EF4-FFF2-40B4-BE49-F238E27FC236}">
                <a16:creationId xmlns:a16="http://schemas.microsoft.com/office/drawing/2014/main" id="{2920CD5C-F4E7-8B50-360F-AF6871A65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73498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OF EXISTING SYSTEM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943100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Sequential LSB Detectability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sequential LSB embedding is trivially detected by chi-squared attacks and RS steganalysis tools that identify the statistical deviation.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Media Type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support only images or only audio files, not a unified system that handles images, audio, and video through one interface.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Pre-Encryption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Plain-text LSB embedding means extracted bits immediately yield readable data — no protection once the stego-media is detected.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Desktop-Only / No Web Access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solutions require local software installation; there is no browser-accessible, deployment-free steganography platform.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User Management or Audit Trail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Standalone tools have no user accounts, role-based access control, OTP verification, or tamper-evident operation logging.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A3BABCA9-B8BC-4BD4-BEFC-F6332DD8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6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950319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Input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Authenticated user selects a media file (image / audio / video) and enters the secret message via the web browser.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AES-256 Encryption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Message is encrypted using AES-256 (CBC + PKCS5 padding) before any embedding takes place. Key space = 2²⁵⁶.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 Optimization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GeneticOptimizerService selects high-entropy, spatially distributed positions via tournament selection, crossover 0.8, mutation 0.01.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LSB Embedding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Cipher bits are embedded 1-bit at a time into the LSB of selected media bytes. Payload delimited by #END / ##AUDIO## / ##VIDEO## markers.
</a:t>
            </a: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Processed stego-file returned to browser as lossless PNG / WAV / MP4 download. Operation logged to MySQL upload_history table.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64D0B715-E5F0-6366-D2D6-9DE82684C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solidFill>
            <a:srgbClr val="FAC09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832228"/>
              </p:ext>
            </p:extLst>
          </p:nvPr>
        </p:nvGraphicFramePr>
        <p:xfrm>
          <a:off x="182880" y="1620012"/>
          <a:ext cx="8778240" cy="29504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Activity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'25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'26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'26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'26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'26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1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 Gathering, System Study, Literature Review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2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Design: Architecture, DB Schema, API Contracts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3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Backend: AES + GA + LSB Services (Image, Audio, Video)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4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Frontend: Dashboard, Encode/Decode Hub, Admin Panel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5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Integration: Spring Security, OTP, RBAC, MySQL Logging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6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Testing, PSNR Evaluation, Steganalysis Resistance Tests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7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Documentation, Deployment, Research Paper Submission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04495" y="4570476"/>
            <a:ext cx="861090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Submission Deadline: 24 April 2026 — Week 40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1.jpeg">
            <a:extLst>
              <a:ext uri="{FF2B5EF4-FFF2-40B4-BE49-F238E27FC236}">
                <a16:creationId xmlns:a16="http://schemas.microsoft.com/office/drawing/2014/main" id="{59318B30-1716-5048-C167-C4AD6D4AE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04495" y="1554480"/>
            <a:ext cx="1097280" cy="548640"/>
          </a:xfrm>
          <a:prstGeom prst="rect">
            <a:avLst/>
          </a:prstGeom>
          <a:solidFill>
            <a:srgbClr val="945A0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04495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447495" y="1554480"/>
            <a:ext cx="7406640" cy="54864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93215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Browser (Chrome · Firefox · Edge) — Fetch API · FormData · Blob Download · No local installation required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4495" y="2167128"/>
            <a:ext cx="1097280" cy="548640"/>
          </a:xfrm>
          <a:prstGeom prst="rect">
            <a:avLst/>
          </a:prstGeom>
          <a:solidFill>
            <a:srgbClr val="945A0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4495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47495" y="2167128"/>
            <a:ext cx="7406640" cy="5486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93215" y="21671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 · CSS3 · JS ES6+   |   Dashboard · Encoding Hub · Decoding Hub · Admin Panel · Activity Log · Canvas Starfield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4495" y="2779776"/>
            <a:ext cx="1097280" cy="548640"/>
          </a:xfrm>
          <a:prstGeom prst="rect">
            <a:avLst/>
          </a:prstGeom>
          <a:solidFill>
            <a:srgbClr val="945A0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4495" y="277977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447495" y="2779776"/>
            <a:ext cx="740664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93215" y="277977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 17 · Spring Boot 3.x · Maven   |   REST API: POST /api/encode/{image|audio|video}  ·  POST /api/decode/{...}  ·  /auth/**  ·  /admin/**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AESCipherService  ·  GeneticOptimizerService  ·  ImageSteganographyService  ·  AudioSteganographyService  ·  VideoSteganographyService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04495" y="3392424"/>
            <a:ext cx="1097280" cy="548640"/>
          </a:xfrm>
          <a:prstGeom prst="rect">
            <a:avLst/>
          </a:prstGeom>
          <a:solidFill>
            <a:srgbClr val="945A0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04495" y="339242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447495" y="3392424"/>
            <a:ext cx="7406640" cy="54864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93215" y="339242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 Security RBAC  ·  BCrypt (strength 12)  ·  OTP / Gmail SMTP (10-min TTL)  ·  AES-256 (CBC)  ·  GA shared seed key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04495" y="4005072"/>
            <a:ext cx="1097280" cy="548640"/>
          </a:xfrm>
          <a:prstGeom prst="rect">
            <a:avLst/>
          </a:prstGeom>
          <a:solidFill>
            <a:srgbClr val="945A0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04495" y="40050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447495" y="4005072"/>
            <a:ext cx="7406640" cy="548640"/>
          </a:xfrm>
          <a:prstGeom prst="rect">
            <a:avLst/>
          </a:prstGeom>
          <a:solidFill>
            <a:srgbClr val="E8F8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493215" y="4005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8.0 · JPA / Hibernate   |   users table  ·  upload_history table (audit log with username, media type, action, timestamp)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29" name="image1.jpeg">
            <a:extLst>
              <a:ext uri="{FF2B5EF4-FFF2-40B4-BE49-F238E27FC236}">
                <a16:creationId xmlns:a16="http://schemas.microsoft.com/office/drawing/2014/main" id="{FD92FFAA-4EDA-495E-BCE8-138E97842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46304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508760"/>
            <a:ext cx="86109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AES-256 Encryption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4495" y="1801368"/>
            <a:ext cx="861090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rounds: SubBytes, ShiftRows, MixColumns, AddRoundKey transformations.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space: 2²⁵⁶ — brute-force computationally infeasible.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binary ciphertext bit-string passed to LSB embedder.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495" y="2587752"/>
            <a:ext cx="86109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 Algorithm Optimization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4495" y="2880360"/>
            <a:ext cx="861090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population of N position sequences; fitness = entropy score + spatial distribution.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Tournament selection · crossover rate 0.8 · mutation rate 0.01.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GA seed acts as extraction key — receiver reproduces identical positions.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4495" y="3666744"/>
            <a:ext cx="86109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LSB Steganography (Image / Audio / Video)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4495" y="3959352"/>
            <a:ext cx="861090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Image: 1 cipher bit → LSB of blue channel of each GA-selected pixel; output PNG (lossless).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Audio: 1 cipher bit → LSB of selected WAV sample bytes; payload ends at ##AUDIO## marker.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Video: 1 cipher bit → LSB of raw frame bytes at GA-selected offsets; ends at ##VIDEO## marker.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15" name="image1.jpeg">
            <a:extLst>
              <a:ext uri="{FF2B5EF4-FFF2-40B4-BE49-F238E27FC236}">
                <a16:creationId xmlns:a16="http://schemas.microsoft.com/office/drawing/2014/main" id="{749E7857-EF38-0B7B-7D3E-3E248DFC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" y="15954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895590"/>
              </p:ext>
            </p:extLst>
          </p:nvPr>
        </p:nvGraphicFramePr>
        <p:xfrm>
          <a:off x="182880" y="1781251"/>
          <a:ext cx="877824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 Type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Avg PSNR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Recovery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 Benefit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Image (PNG)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AES → GA → LSB (Blue channel)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 50 dB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100 %</a:t>
                      </a:r>
                    </a:p>
                    <a:p>
                      <a:pPr marL="0" indent="0" algn="ctr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High-entropy pixel selection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Audio (WAV)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AES → GA → LSB (sample bytes)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 48 dB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100 %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Non-sequential sample positions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Video (MP4)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AES → GA → LSB (frame bytes)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 45 dB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100 %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Distributed across frame stream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66547" y="4231266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Metrics: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PSNR &gt; 50 dB (Image)  •  100% data recovery across all media types  •  AES-256 key space: 2²⁵⁶  •  LSB change: &lt; 0.01% pixel deviation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1.jpeg">
            <a:extLst>
              <a:ext uri="{FF2B5EF4-FFF2-40B4-BE49-F238E27FC236}">
                <a16:creationId xmlns:a16="http://schemas.microsoft.com/office/drawing/2014/main" id="{76E9836C-F9A7-719D-145E-59D45F663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3A6E9-CD76-CBF5-CFCC-8CDD4729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731B41-3564-E1CA-531A-4BFAD7498E6B}"/>
              </a:ext>
            </a:extLst>
          </p:cNvPr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05D2635-9976-56E9-DB7F-1F31D770DB63}"/>
              </a:ext>
            </a:extLst>
          </p:cNvPr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C352627-5985-52F2-F6A1-66F7763C8264}"/>
              </a:ext>
            </a:extLst>
          </p:cNvPr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18D34D1-F0FA-C4ED-33EE-9C7807AFA42F}"/>
              </a:ext>
            </a:extLst>
          </p:cNvPr>
          <p:cNvSpPr/>
          <p:nvPr/>
        </p:nvSpPr>
        <p:spPr>
          <a:xfrm>
            <a:off x="266547" y="4231266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9CD1D00-BF70-9F6B-7AF4-D65B1200AF9F}"/>
              </a:ext>
            </a:extLst>
          </p:cNvPr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1C2752E-C828-F854-A8A5-ED9733649D66}"/>
              </a:ext>
            </a:extLst>
          </p:cNvPr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B043991-0967-0C04-2139-65A4295D811C}"/>
              </a:ext>
            </a:extLst>
          </p:cNvPr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1.jpeg">
            <a:extLst>
              <a:ext uri="{FF2B5EF4-FFF2-40B4-BE49-F238E27FC236}">
                <a16:creationId xmlns:a16="http://schemas.microsoft.com/office/drawing/2014/main" id="{774AE648-CB31-1C82-833D-8F011854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71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IMPACT OF PROJECT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508760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Enhances privacy and security in digital communication by making secret data transmission invisible to eavesdroppers.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sensitive data of individuals, organizations, and governments from unauthorized access and cyber surveillance.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Promotes awareness of cybersecurity and safe data sharing practices through practical demonstration of steganography.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secure sharing of confidential information in education, healthcare, legal, and business sectors.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Encourages the adoption of advanced multi-layer steganography and encryption techniques as a communication standard.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2483D47C-B778-2C0E-ED84-ABBE0FDF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5954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495" y="1508760"/>
            <a:ext cx="861090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developed a unified web-based application for secure data hiding in images, audio, and video files.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three-layer approach (AES-256 + GA optimization + LSB) enhances security and optimizes embedding imperceptibility.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Achieved PSNR &gt; 50 dB for images and 100% data recovery accuracy across all three media types.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user-friendly, with a complete Spring Boot web interface for all operations from login to transmission.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Enterprise-grade features — OTP verification, BCrypt hashing, RBAC, Admin panel, and MySQL audit log — make it production-ready.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provides a robust tool for secure and covert communication, mitigating risks of data theft and interception.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809121AD-A7AA-396E-6F9A-2C928D8BF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495" y="1234440"/>
            <a:ext cx="86109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66547" y="1623060"/>
            <a:ext cx="861090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P. Mahajan et al., "Java-Based Image Steganography Using LSB Algorithm for Secure Data Transmission," 2024.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Y. More et al., "A Study of Encryption Algorithms for Data Security," Alochana Journal, 2025.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S. Kumar et al., "DeepGA-Stego: Hybrid Deep Learning and Genetic Algorithm for Steganography," IEEE, 2022.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X. Zhang et al., "Deep Learning and Genetic Algorithms for Multimedia Steganography," ACM, 2023.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A. Rahman et al., "HC-LSBIS-MLE-AC: Huffman Code LSB with Multi-Level Encryption," Springer, 2023.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A. U. Islam, "An Improved Image Steganography Technique Based on MSB Using Bit Differencing," INTECH, 2018.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M. Rehman, "Deep Learning-Based Image Steganography Using CNN Encoder-Decoder Framework," IEEE Access, 2020.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 M. Younus, "Enhanced LSB Video Steganography Using Key Functional Technique," IJIS, 2021.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10" name="image1.jpeg">
            <a:extLst>
              <a:ext uri="{FF2B5EF4-FFF2-40B4-BE49-F238E27FC236}">
                <a16:creationId xmlns:a16="http://schemas.microsoft.com/office/drawing/2014/main" id="{C82AACF8-8012-6C81-83A9-413C3444A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"/>
            <a:ext cx="9144000" cy="990295"/>
          </a:xfrm>
          <a:prstGeom prst="rect">
            <a:avLst/>
          </a:prstGeom>
          <a:solidFill>
            <a:srgbClr val="FAC090"/>
          </a:solidFill>
          <a:ln w="12700">
            <a:solidFill>
              <a:srgbClr val="94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71600" y="75895"/>
            <a:ext cx="6476695" cy="99029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SRES’s
SHREE RAMCHANDRA COLLEGE OF ENGINEERING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Lonikand, Pune – 412216
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1945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You!!!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" y="4873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24/04/2026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371600" y="487375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StegnoVault — Secure Data Transmission using Steganography with LSB Algorithm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B9D31E0A-7DD0-6E62-D370-D5297446C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5" y="167023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2610</Words>
  <Application>Microsoft Office PowerPoint</Application>
  <PresentationFormat>On-screen Show (16:9)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StegnoVault — Final Year Project Seminar</dc:title>
  <dc:subject>PptxGenJS Presentation</dc:subject>
  <dc:creator>PptxGenJS</dc:creator>
  <cp:lastModifiedBy>Admin 1</cp:lastModifiedBy>
  <cp:revision>3</cp:revision>
  <dcterms:created xsi:type="dcterms:W3CDTF">2026-03-18T16:20:05Z</dcterms:created>
  <dcterms:modified xsi:type="dcterms:W3CDTF">2026-04-01T18:40:07Z</dcterms:modified>
</cp:coreProperties>
</file>