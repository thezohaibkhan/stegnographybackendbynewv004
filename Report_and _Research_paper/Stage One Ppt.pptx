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1" r:id="rId1"/>
  </p:sldMasterIdLst>
  <p:notesMasterIdLst>
    <p:notesMasterId r:id="rId25"/>
  </p:notesMasterIdLst>
  <p:handoutMasterIdLst>
    <p:handoutMasterId r:id="rId26"/>
  </p:handoutMasterIdLst>
  <p:sldIdLst>
    <p:sldId id="257" r:id="rId2"/>
    <p:sldId id="258" r:id="rId3"/>
    <p:sldId id="259" r:id="rId4"/>
    <p:sldId id="260" r:id="rId5"/>
    <p:sldId id="261" r:id="rId6"/>
    <p:sldId id="262" r:id="rId7"/>
    <p:sldId id="285" r:id="rId8"/>
    <p:sldId id="286" r:id="rId9"/>
    <p:sldId id="264" r:id="rId10"/>
    <p:sldId id="265" r:id="rId11"/>
    <p:sldId id="266" r:id="rId12"/>
    <p:sldId id="267" r:id="rId13"/>
    <p:sldId id="284" r:id="rId14"/>
    <p:sldId id="271" r:id="rId15"/>
    <p:sldId id="272" r:id="rId16"/>
    <p:sldId id="279" r:id="rId17"/>
    <p:sldId id="280" r:id="rId18"/>
    <p:sldId id="281" r:id="rId19"/>
    <p:sldId id="282" r:id="rId20"/>
    <p:sldId id="283" r:id="rId21"/>
    <p:sldId id="273" r:id="rId22"/>
    <p:sldId id="274" r:id="rId23"/>
    <p:sldId id="278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5353"/>
    <a:srgbClr val="CC9B00"/>
    <a:srgbClr val="FF7575"/>
    <a:srgbClr val="5506CA"/>
    <a:srgbClr val="FF9900"/>
    <a:srgbClr val="CC00F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>
      <p:cViewPr varScale="1">
        <p:scale>
          <a:sx n="63" d="100"/>
          <a:sy n="63" d="100"/>
        </p:scale>
        <p:origin x="58" y="3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B790E7-697B-EAD6-BBBB-660B6A3A02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8D58F-5971-0858-FBD5-BD58BC25F5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605CD-E594-47A5-93D6-ABBC7A4C760F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ACAAE-9C53-C205-CD55-CE4F884C93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5F1A0-B801-3E16-D804-3733A3E148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174DC47-D3B3-43A4-B4A5-3D9D5D98C2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BB503A-08DB-DC0E-5084-A77C4A9077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419950-8FCF-B93E-3633-FB5EF4ECE86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D58D01A-BF6A-494E-84C2-F5840922FEA7}" type="datetimeFigureOut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D0D35E9-115F-0FC9-1DD0-E982D7BAF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E38A13B-94A6-0F74-DE58-91DF00A11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7AF75-1036-FA8E-C12D-EF5E9F4FD3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AF48C-5B1D-4888-301A-686007E94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34DF80B-F932-43D4-B610-C77125DD0D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1335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DF80B-F932-43D4-B610-C77125DD0DBC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4325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DF80B-F932-43D4-B610-C77125DD0DBC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505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DF80B-F932-43D4-B610-C77125DD0DBC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3995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E962E-BA4F-E604-F6F2-07D0649D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47505-AD22-4F38-A8C5-AB5492291CE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0F8B3-B58C-62BC-5D2F-16215502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A9D59-1632-A3F4-DB8C-EDEED78B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E66AF5-223B-4C5F-B06B-8CA0DB68E1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8247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9C5D4-62E1-12B9-6BC2-EA5CB45D5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97DF9-3B24-4B6A-AAC2-B350C46A2B76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E6D8C-BB74-F975-68EB-7E4E8B684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D8CE7-4DFA-62F8-3FF3-568BE020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BB2FB8-4A10-44AE-9B7F-727059DB77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6406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DC7A6-1C8A-BDB9-985A-8BCFF90D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0EC39-29C5-4A22-857C-9352583BE4A2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65845-6A22-3B71-2067-4FA73AC5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7BAB4-0159-68B4-23E4-687A22D2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F753CB-8C0E-4E3C-BDC5-89CAD1F702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5927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BAC94D7-7C59-0CEA-EE4E-6F8DA34ED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165BE0-6BDF-41C6-B7C3-FB66E2831369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877902-E4AD-1A6F-3536-7307E736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EB5E7A1-EFCD-C598-1DD3-CB70CD38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AF96CF-BBCE-4393-9A74-939AD87272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238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1F56BD2-A50B-E258-76AD-B7F6DFAF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E0F97-AE1B-44B9-8D06-AE78120D7518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83ADD4B-CF32-4FEE-0AA1-6CCBA24E1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2E7904D-A937-8F0A-8763-77FB20EB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9B6FC-C2F6-4852-B14F-1A58B83098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289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74A774E-CC05-7A07-E38C-0F75E299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EAF6B-0091-4642-9288-A78F24DD3BDF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B88BF8B-8BB4-00EE-7312-E98EE512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853F3F-93E5-DC09-94EA-5C3D40D2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5BCDBC-86AD-4335-8D6D-B3D5D77DBB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877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B0F87D4-52D4-AF25-768B-909B7A90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AEDF5-6EB2-426C-B0F1-990B759A69A1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4D6CE55-1F4D-F328-8A1E-6E237855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1B95B22-606A-3931-3082-4A4F5EE3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C0B15-B440-42E4-91A4-DF9568254A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2837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780C26-92B8-C04D-438C-660F4B4E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45865-A977-4732-840D-33D6A3C8C253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936F08C-5C99-1599-1EA7-F0739C71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E35C192-0AFD-E811-2DBF-7BF5D1D8A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A6289-0414-4889-A44E-288D227000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890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342665B-6D03-F322-B123-52EFE841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80765-D10B-46C1-929B-AFD8DD86AF64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D10C76C-8A40-1E79-5744-69CEA47E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99B01E-1C33-B975-C527-B1EE8A16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0A1292-ECBB-42FB-B9F4-4AD217A815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512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055B4-FCF6-2C0C-C69D-59CF5AB2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49FF66-A4F5-461B-B174-04BEA1A6847B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6E4BD-F3FA-04ED-819F-704838EE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7BCB1-125F-8CE5-17ED-F344A498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8609D-BA8B-46F8-B5AA-09F2848864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0188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59DC6-F277-FFD7-90E4-E5781B37C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F0EA3-4814-4B4B-B3F4-304BEC193547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02734-56D6-2BC0-CC47-82929B0F6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5479E-7D23-3508-02F0-53EA4B07B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73F2-770F-41E1-9CD4-E3BEE7AF2E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6825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3AD618-9CB5-7F3E-D55F-18EE9F99453A}"/>
              </a:ext>
            </a:extLst>
          </p:cNvPr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43F6A5-BB2F-ABC1-E211-7FE334AC5764}"/>
              </a:ext>
            </a:extLst>
          </p:cNvPr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64D2B8-C182-0422-F4FE-7A4C92279A92}"/>
              </a:ext>
            </a:extLst>
          </p:cNvPr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CFFEF-15DD-69C7-8266-8D2402B018B9}"/>
              </a:ext>
            </a:extLst>
          </p:cNvPr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33333914-9BFB-3BA1-6AA4-849E72EDF4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663A1AF-595B-7DBB-BBE8-2AEF9651986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15A4E56-9DE0-8BE1-2BD3-F50139F92E1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65065D8D-D877-0941-5935-F57F7530D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F802D8D-1F1F-CB95-4665-FA48B5FA59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B8C0B88-A18F-C220-6671-44A984732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267C17-4EAF-619D-40BC-834A5171C27B}"/>
              </a:ext>
            </a:extLst>
          </p:cNvPr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68FD989-ED0B-D474-9F6A-62FBF8AE30A1}"/>
              </a:ext>
            </a:extLst>
          </p:cNvPr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5A874E2-C46C-5BF4-A70C-410F83C719B5}"/>
              </a:ext>
            </a:extLst>
          </p:cNvPr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6AFE75B-72F9-E16A-E0BE-DCAF02C0D0BA}"/>
              </a:ext>
            </a:extLst>
          </p:cNvPr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A10527-7AFE-EE04-7440-6F0909BFC720}"/>
              </a:ext>
            </a:extLst>
          </p:cNvPr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26F51D3-C6A5-8284-7B6E-C8490B6888B5}"/>
              </a:ext>
            </a:extLst>
          </p:cNvPr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1484784"/>
            <a:ext cx="6172200" cy="4890138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1331640" y="764704"/>
            <a:ext cx="7467600" cy="5620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" name="Date Placeholder 33">
            <a:extLst>
              <a:ext uri="{FF2B5EF4-FFF2-40B4-BE49-F238E27FC236}">
                <a16:creationId xmlns:a16="http://schemas.microsoft.com/office/drawing/2014/main" id="{0273C09A-672D-8710-4D66-E3DCAD12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67175" y="6473825"/>
            <a:ext cx="2012950" cy="384175"/>
          </a:xfrm>
        </p:spPr>
        <p:txBody>
          <a:bodyPr/>
          <a:lstStyle>
            <a:lvl1pPr algn="r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A408C9F-0529-4322-92FC-D4661E359000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20" name="Slide Number Placeholder 34">
            <a:extLst>
              <a:ext uri="{FF2B5EF4-FFF2-40B4-BE49-F238E27FC236}">
                <a16:creationId xmlns:a16="http://schemas.microsoft.com/office/drawing/2014/main" id="{6DD257F4-B4DF-A9E1-D9AC-7AFB0E0A54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337300"/>
            <a:ext cx="609600" cy="520700"/>
          </a:xfrm>
        </p:spPr>
        <p:txBody>
          <a:bodyPr/>
          <a:lstStyle>
            <a:lvl1pPr>
              <a:defRPr/>
            </a:lvl1pPr>
          </a:lstStyle>
          <a:p>
            <a:fld id="{0887316A-B12D-415A-A64C-910E48F7F5A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35">
            <a:extLst>
              <a:ext uri="{FF2B5EF4-FFF2-40B4-BE49-F238E27FC236}">
                <a16:creationId xmlns:a16="http://schemas.microsoft.com/office/drawing/2014/main" id="{3991A0F6-F926-8155-6E08-8DC74A6308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92875"/>
            <a:ext cx="3200400" cy="365125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4200387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>
            <a:normAutofit/>
          </a:bodyPr>
          <a:lstStyle>
            <a:lvl1pPr>
              <a:defRPr sz="3200" b="1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idx="1"/>
          </p:nvPr>
        </p:nvSpPr>
        <p:spPr>
          <a:xfrm>
            <a:off x="457200" y="1052736"/>
            <a:ext cx="7467600" cy="542121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0726FA39-19AB-88BD-D7F6-F0FE79F47E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0B7C008-518A-4275-941F-EBBCC3A1112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59DAE6BD-E1DB-C0E9-2293-381C7DC0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368221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516F41A-7432-6734-FB76-4D4882529D8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C8BA657-1759-FE74-6D61-C33642F77A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72BC0-B43C-4470-BD1D-77330FDEC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5D5885-616E-4AEB-B17B-A6F4AF02E3EB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235F3-9797-0BAB-0AD3-0DC76FC84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Project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D1DF6-044F-FC61-7736-7A75E481F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AD1E873A-C20E-47B4-AD4E-13F69DB1C67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1C67F1-C880-81ED-A3F6-BDAAEF444264}"/>
              </a:ext>
            </a:extLst>
          </p:cNvPr>
          <p:cNvSpPr/>
          <p:nvPr userDrawn="1"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5547C67-A411-04E3-7C20-5BB3767F2C1F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9985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278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100" dirty="0">
                          <a:latin typeface="Cambria" pitchFamily="18" charset="0"/>
                          <a:ea typeface="Calibri"/>
                          <a:cs typeface="Times New Roman"/>
                        </a:rPr>
                        <a:t>JSPM’s</a:t>
                      </a:r>
                    </a:p>
                  </a:txBody>
                  <a:tcPr marL="58967" marR="5896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200" b="1" dirty="0">
                          <a:latin typeface="Cambria" pitchFamily="18" charset="0"/>
                          <a:ea typeface="Calibri"/>
                          <a:cs typeface="Times New Roman"/>
                        </a:rPr>
                        <a:t>Imperial College of Engineering and </a:t>
                      </a:r>
                      <a:r>
                        <a:rPr lang="en-US" sz="1200" b="1" dirty="0" err="1">
                          <a:latin typeface="Cambria" pitchFamily="18" charset="0"/>
                          <a:ea typeface="Calibri"/>
                          <a:cs typeface="Times New Roman"/>
                        </a:rPr>
                        <a:t>Research,Wagholi,Pune</a:t>
                      </a:r>
                      <a:r>
                        <a:rPr lang="en-US" sz="1200" b="1" dirty="0">
                          <a:latin typeface="Cambria" pitchFamily="18" charset="0"/>
                          <a:ea typeface="Calibri"/>
                          <a:cs typeface="Times New Roman"/>
                        </a:rPr>
                        <a:t>.</a:t>
                      </a:r>
                      <a:endParaRPr lang="en-US" sz="1200" dirty="0">
                        <a:latin typeface="Cambria" pitchFamily="18" charset="0"/>
                        <a:ea typeface="Calibri"/>
                        <a:cs typeface="Times New Roman"/>
                      </a:endParaRPr>
                    </a:p>
                  </a:txBody>
                  <a:tcPr marL="58967" marR="5896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44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900" b="1" i="1" dirty="0">
                          <a:latin typeface="Cambria" pitchFamily="18" charset="0"/>
                          <a:ea typeface="Calibri"/>
                          <a:cs typeface="Times New Roman"/>
                        </a:rPr>
                        <a:t>(Approved by </a:t>
                      </a:r>
                      <a:r>
                        <a:rPr lang="en-US" sz="900" b="1" i="1" dirty="0" err="1">
                          <a:latin typeface="Cambria" pitchFamily="18" charset="0"/>
                          <a:ea typeface="Calibri"/>
                          <a:cs typeface="Times New Roman"/>
                        </a:rPr>
                        <a:t>AICTE,Delhi</a:t>
                      </a:r>
                      <a:r>
                        <a:rPr lang="en-US" sz="900" b="1" i="1" dirty="0">
                          <a:latin typeface="Cambria" pitchFamily="18" charset="0"/>
                          <a:ea typeface="Calibri"/>
                          <a:cs typeface="Times New Roman"/>
                        </a:rPr>
                        <a:t> &amp; Govt. of Maharashtra, affiliated to </a:t>
                      </a:r>
                      <a:r>
                        <a:rPr lang="en-US" sz="900" b="1" i="1" dirty="0" err="1">
                          <a:latin typeface="Cambria" pitchFamily="18" charset="0"/>
                          <a:ea typeface="Calibri"/>
                          <a:cs typeface="Times New Roman"/>
                        </a:rPr>
                        <a:t>Savitribai</a:t>
                      </a:r>
                      <a:r>
                        <a:rPr lang="en-US" sz="900" b="1" i="1" dirty="0">
                          <a:latin typeface="Cambria" pitchFamily="18" charset="0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900" b="1" i="1" dirty="0" err="1">
                          <a:latin typeface="Cambria" pitchFamily="18" charset="0"/>
                          <a:ea typeface="Calibri"/>
                          <a:cs typeface="Times New Roman"/>
                        </a:rPr>
                        <a:t>Phule</a:t>
                      </a:r>
                      <a:r>
                        <a:rPr lang="en-US" sz="900" b="1" i="1" dirty="0">
                          <a:latin typeface="Cambria" pitchFamily="18" charset="0"/>
                          <a:ea typeface="Calibri"/>
                          <a:cs typeface="Times New Roman"/>
                        </a:rPr>
                        <a:t> Pune University)</a:t>
                      </a:r>
                      <a:endParaRPr lang="en-US" sz="900" dirty="0">
                        <a:latin typeface="Cambria" pitchFamily="18" charset="0"/>
                        <a:ea typeface="Calibri"/>
                        <a:cs typeface="Times New Roman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971800" algn="ctr"/>
                          <a:tab pos="5943600" algn="r"/>
                        </a:tabLst>
                      </a:pPr>
                      <a:r>
                        <a:rPr lang="en-US" sz="1000" dirty="0">
                          <a:latin typeface="Cambria" pitchFamily="18" charset="0"/>
                          <a:ea typeface="Calibri"/>
                          <a:cs typeface="Times New Roman"/>
                        </a:rPr>
                        <a:t>Gat.No.720,Pune-Nagar Road,Wagholi,Pune,412207</a:t>
                      </a:r>
                    </a:p>
                    <a:p>
                      <a:pPr algn="ctr"/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Department of Electronics and Telecommunication Engineering </a:t>
                      </a:r>
                    </a:p>
                  </a:txBody>
                  <a:tcPr marL="58967" marR="58967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36" name="Picture 11" descr="Description: Description: I:\ALL PICTURE\JSPM LOGO.JPG">
            <a:extLst>
              <a:ext uri="{FF2B5EF4-FFF2-40B4-BE49-F238E27FC236}">
                <a16:creationId xmlns:a16="http://schemas.microsoft.com/office/drawing/2014/main" id="{F1715E13-F223-571C-E138-D1B18E67E2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8588"/>
            <a:ext cx="11430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7" name="Picture 12" descr="C:\Users\staff\Downloads\image.png">
            <a:extLst>
              <a:ext uri="{FF2B5EF4-FFF2-40B4-BE49-F238E27FC236}">
                <a16:creationId xmlns:a16="http://schemas.microsoft.com/office/drawing/2014/main" id="{3BE6BE66-E53B-61EE-F2EE-14922009F8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14300"/>
            <a:ext cx="10668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1" r:id="rId1"/>
    <p:sldLayoutId id="2147484242" r:id="rId2"/>
    <p:sldLayoutId id="2147484243" r:id="rId3"/>
    <p:sldLayoutId id="2147484244" r:id="rId4"/>
    <p:sldLayoutId id="2147484245" r:id="rId5"/>
    <p:sldLayoutId id="2147484246" r:id="rId6"/>
    <p:sldLayoutId id="2147484247" r:id="rId7"/>
    <p:sldLayoutId id="2147484248" r:id="rId8"/>
    <p:sldLayoutId id="2147484249" r:id="rId9"/>
    <p:sldLayoutId id="2147484250" r:id="rId10"/>
    <p:sldLayoutId id="2147484251" r:id="rId11"/>
    <p:sldLayoutId id="2147484252" r:id="rId12"/>
    <p:sldLayoutId id="2147484253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E4ED72-387B-F4BC-4E03-767811E56DCC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35706B4-EDBD-D8DA-6DF0-34EF2B6E146B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Lonikand, Pune – 412216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4C946DD-0575-51D3-FE9C-485709060C4B}"/>
              </a:ext>
            </a:extLst>
          </p:cNvPr>
          <p:cNvSpPr txBox="1"/>
          <p:nvPr/>
        </p:nvSpPr>
        <p:spPr>
          <a:xfrm>
            <a:off x="647700" y="1447800"/>
            <a:ext cx="8115300" cy="437042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pPr algn="ctr" eaLnBrk="1" hangingPunct="1">
              <a:defRPr/>
            </a:pP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Project Seminar </a:t>
            </a:r>
          </a:p>
          <a:p>
            <a:pPr algn="ctr" eaLnBrk="1" hangingPunct="1">
              <a:defRPr/>
            </a:pP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algn="ctr" eaLnBrk="1" hangingPunct="1"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defRPr/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“Secure Data Transmission using Data Steganography with LSB Algorithm in Java”</a:t>
            </a:r>
          </a:p>
          <a:p>
            <a:pPr algn="ctr" eaLnBrk="1" hangingPunct="1"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 				Presented by</a:t>
            </a:r>
          </a:p>
          <a:p>
            <a:pPr eaLnBrk="1" hangingPunct="1">
              <a:defRPr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Prof.Yogita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More			                          1) Shweta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Chounde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		            2) Tanuja Dhere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					            3) Om Gaikwad</a:t>
            </a:r>
          </a:p>
          <a:p>
            <a:pPr eaLnBrk="1" hangingPunct="1">
              <a:defRPr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4) Zohaib Khan</a:t>
            </a:r>
          </a:p>
          <a:p>
            <a:pPr eaLnBrk="1" hangingPunct="1">
              <a:defRPr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4" name="image1.jpeg">
            <a:extLst>
              <a:ext uri="{FF2B5EF4-FFF2-40B4-BE49-F238E27FC236}">
                <a16:creationId xmlns:a16="http://schemas.microsoft.com/office/drawing/2014/main" id="{83852BFD-0452-1CEA-8E21-7183C2D3C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D891F98-77A8-F7C5-7461-A65FD4D02C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CCB3BC7-C01A-456D-ACFF-C5F4F8463F24}" type="datetime1">
              <a:rPr lang="en-US"/>
              <a:pPr>
                <a:defRPr/>
              </a:pPr>
              <a:t>11/12/2025</a:t>
            </a:fld>
            <a:endParaRPr lang="en-US" dirty="0"/>
          </a:p>
        </p:txBody>
      </p:sp>
      <p:sp>
        <p:nvSpPr>
          <p:cNvPr id="4106" name="Slide Number Placeholder 8">
            <a:extLst>
              <a:ext uri="{FF2B5EF4-FFF2-40B4-BE49-F238E27FC236}">
                <a16:creationId xmlns:a16="http://schemas.microsoft.com/office/drawing/2014/main" id="{837479E4-A0E1-C4A1-6AB6-6336E169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4C3AB92-120A-4D12-AAE4-27147F10134A}" type="slidenum">
              <a:rPr lang="en-US" altLang="en-US">
                <a:solidFill>
                  <a:srgbClr val="898989"/>
                </a:solidFill>
              </a:rPr>
              <a:pPr/>
              <a:t>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445EFC6-202D-8A05-A9B9-29712A201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407150"/>
            <a:ext cx="64770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6C91E0-900E-EC6A-9646-ED6AA6EBAEA5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6DDD0EA-82E2-592D-C9A8-97AD763AF222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Lonikand, Pune – 412216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128" name="image1.jpeg">
            <a:extLst>
              <a:ext uri="{FF2B5EF4-FFF2-40B4-BE49-F238E27FC236}">
                <a16:creationId xmlns:a16="http://schemas.microsoft.com/office/drawing/2014/main" id="{CB75C211-FD26-A42F-90D0-6CCA73D86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9" name="Rectangle 1">
            <a:extLst>
              <a:ext uri="{FF2B5EF4-FFF2-40B4-BE49-F238E27FC236}">
                <a16:creationId xmlns:a16="http://schemas.microsoft.com/office/drawing/2014/main" id="{561E9A37-8904-9BDC-B160-E535F1F64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57337"/>
            <a:ext cx="914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FontTx/>
              <a:buChar char="•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AE7787D-25B0-0D9D-BB28-7582825BF36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0DE9919-EEE0-4B05-8345-7DE4885B5949}" type="datetime1">
              <a:rPr lang="en-US"/>
              <a:pPr>
                <a:defRPr/>
              </a:pPr>
              <a:t>11/12/2025</a:t>
            </a:fld>
            <a:endParaRPr lang="en-US" dirty="0"/>
          </a:p>
        </p:txBody>
      </p:sp>
      <p:sp>
        <p:nvSpPr>
          <p:cNvPr id="5131" name="Slide Number Placeholder 8">
            <a:extLst>
              <a:ext uri="{FF2B5EF4-FFF2-40B4-BE49-F238E27FC236}">
                <a16:creationId xmlns:a16="http://schemas.microsoft.com/office/drawing/2014/main" id="{117DE104-C5F7-EB9F-3F5B-A1C27FB6E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F809A25-FC2A-4B16-B1F9-D8D2F62C9349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8E54BE5-272D-77C6-8CA2-8A55FC6A3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6350"/>
            <a:ext cx="6705600" cy="425450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AEB8CCC5-E86E-10BD-567E-221F14EAFCDC}"/>
              </a:ext>
            </a:extLst>
          </p:cNvPr>
          <p:cNvSpPr txBox="1"/>
          <p:nvPr/>
        </p:nvSpPr>
        <p:spPr>
          <a:xfrm>
            <a:off x="699135" y="1182942"/>
            <a:ext cx="4850130" cy="491801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30"/>
              </a:spcBef>
            </a:pPr>
            <a:r>
              <a:rPr sz="30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INDEX</a:t>
            </a:r>
            <a:endParaRPr sz="305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buFont typeface="Arial"/>
              <a:buChar char="•"/>
              <a:tabLst>
                <a:tab pos="514984" algn="l"/>
              </a:tabLst>
            </a:pPr>
            <a:r>
              <a:rPr sz="2400" spc="-10" dirty="0">
                <a:latin typeface="Times New Roman"/>
                <a:cs typeface="Times New Roman"/>
              </a:rPr>
              <a:t>Introduction</a:t>
            </a:r>
            <a:endParaRPr sz="240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514984" algn="l"/>
              </a:tabLst>
            </a:pPr>
            <a:r>
              <a:rPr sz="2400" dirty="0">
                <a:latin typeface="Times New Roman"/>
                <a:cs typeface="Times New Roman"/>
              </a:rPr>
              <a:t>Problem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objective.</a:t>
            </a:r>
            <a:endParaRPr sz="240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514984" algn="l"/>
              </a:tabLst>
            </a:pPr>
            <a:r>
              <a:rPr sz="2400" dirty="0">
                <a:latin typeface="Times New Roman"/>
                <a:cs typeface="Times New Roman"/>
              </a:rPr>
              <a:t>Scope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lang="en-IN" sz="2400" spc="-3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 </a:t>
            </a:r>
            <a:r>
              <a:rPr sz="2400" spc="-10" dirty="0">
                <a:latin typeface="Times New Roman"/>
                <a:cs typeface="Times New Roman"/>
              </a:rPr>
              <a:t>Project</a:t>
            </a:r>
            <a:endParaRPr sz="240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514984" algn="l"/>
              </a:tabLst>
            </a:pPr>
            <a:r>
              <a:rPr sz="2400" spc="-10" dirty="0">
                <a:latin typeface="Times New Roman"/>
                <a:cs typeface="Times New Roman"/>
              </a:rPr>
              <a:t>Literature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Times New Roman"/>
                <a:cs typeface="Times New Roman"/>
              </a:rPr>
              <a:t>s</a:t>
            </a:r>
            <a:r>
              <a:rPr sz="2400" spc="-10" dirty="0" err="1">
                <a:latin typeface="Times New Roman"/>
                <a:cs typeface="Times New Roman"/>
              </a:rPr>
              <a:t>urvey</a:t>
            </a:r>
            <a:endParaRPr sz="240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514984" algn="l"/>
              </a:tabLst>
            </a:pP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lang="en-IN" sz="2400" spc="-165" dirty="0">
                <a:latin typeface="Times New Roman"/>
                <a:cs typeface="Times New Roman"/>
              </a:rPr>
              <a:t>R</a:t>
            </a:r>
            <a:r>
              <a:rPr sz="2400" spc="-10" dirty="0" err="1">
                <a:latin typeface="Times New Roman"/>
                <a:cs typeface="Times New Roman"/>
              </a:rPr>
              <a:t>equirements</a:t>
            </a:r>
            <a:endParaRPr sz="240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514984" algn="l"/>
              </a:tabLst>
            </a:pPr>
            <a:r>
              <a:rPr sz="2400" dirty="0">
                <a:latin typeface="Times New Roman"/>
                <a:cs typeface="Times New Roman"/>
              </a:rPr>
              <a:t>Limitation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lang="en-IN" sz="2400" spc="45" dirty="0">
                <a:latin typeface="Times New Roman"/>
                <a:cs typeface="Times New Roman"/>
              </a:rPr>
              <a:t>E</a:t>
            </a:r>
            <a:r>
              <a:rPr sz="2400" dirty="0" err="1">
                <a:latin typeface="Times New Roman"/>
                <a:cs typeface="Times New Roman"/>
              </a:rPr>
              <a:t>xisting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Times New Roman"/>
                <a:cs typeface="Times New Roman"/>
              </a:rPr>
              <a:t>s</a:t>
            </a:r>
            <a:r>
              <a:rPr sz="2400" spc="-10" dirty="0" err="1">
                <a:latin typeface="Times New Roman"/>
                <a:cs typeface="Times New Roman"/>
              </a:rPr>
              <a:t>ystem</a:t>
            </a:r>
            <a:endParaRPr sz="240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514984" algn="l"/>
              </a:tabLst>
            </a:pPr>
            <a:r>
              <a:rPr sz="2400" dirty="0">
                <a:latin typeface="Times New Roman"/>
                <a:cs typeface="Times New Roman"/>
              </a:rPr>
              <a:t>Project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Times New Roman"/>
                <a:cs typeface="Times New Roman"/>
              </a:rPr>
              <a:t>A</a:t>
            </a:r>
            <a:r>
              <a:rPr sz="2400" spc="-10" dirty="0" err="1">
                <a:latin typeface="Times New Roman"/>
                <a:cs typeface="Times New Roman"/>
              </a:rPr>
              <a:t>pproach</a:t>
            </a:r>
            <a:endParaRPr sz="240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514984" algn="l"/>
              </a:tabLst>
            </a:pPr>
            <a:r>
              <a:rPr sz="2400" spc="-20" dirty="0">
                <a:latin typeface="Times New Roman"/>
                <a:cs typeface="Times New Roman"/>
              </a:rPr>
              <a:t>Plan</a:t>
            </a:r>
            <a:endParaRPr sz="240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514984" algn="l"/>
              </a:tabLst>
            </a:pP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Times New Roman"/>
                <a:cs typeface="Times New Roman"/>
              </a:rPr>
              <a:t>A</a:t>
            </a:r>
            <a:r>
              <a:rPr sz="2400" spc="-10" dirty="0" err="1">
                <a:latin typeface="Times New Roman"/>
                <a:cs typeface="Times New Roman"/>
              </a:rPr>
              <a:t>rchitecture</a:t>
            </a:r>
            <a:endParaRPr sz="240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514984" algn="l"/>
              </a:tabLst>
            </a:pPr>
            <a:r>
              <a:rPr sz="2400" dirty="0">
                <a:latin typeface="Times New Roman"/>
                <a:cs typeface="Times New Roman"/>
              </a:rPr>
              <a:t>Social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impact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project</a:t>
            </a:r>
            <a:endParaRPr lang="en-IN" sz="2400" spc="-10" dirty="0">
              <a:latin typeface="Times New Roman"/>
              <a:cs typeface="Times New Roman"/>
            </a:endParaRPr>
          </a:p>
          <a:p>
            <a:pPr marL="514984" indent="-502284">
              <a:spcBef>
                <a:spcPts val="25"/>
              </a:spcBef>
              <a:buFont typeface="Arial"/>
              <a:buChar char="•"/>
              <a:tabLst>
                <a:tab pos="514984" algn="l"/>
              </a:tabLst>
            </a:pPr>
            <a:r>
              <a:rPr lang="en-IN" sz="2400" spc="-10" dirty="0">
                <a:latin typeface="Times New Roman"/>
                <a:cs typeface="Times New Roman"/>
              </a:rPr>
              <a:t>Conclusions</a:t>
            </a:r>
            <a:endParaRPr sz="2400" dirty="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514984" algn="l"/>
              </a:tabLst>
            </a:pPr>
            <a:r>
              <a:rPr sz="2400" spc="-10" dirty="0">
                <a:latin typeface="Times New Roman"/>
                <a:cs typeface="Times New Roman"/>
              </a:rPr>
              <a:t>References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23A80E-260A-0EA9-4869-91409A3DCBF3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2124030-6D90-A78C-57DF-5D521CF13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780917"/>
              </p:ext>
            </p:extLst>
          </p:nvPr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Lonikand, Pune – 412216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151" name="image1.jpeg">
            <a:extLst>
              <a:ext uri="{FF2B5EF4-FFF2-40B4-BE49-F238E27FC236}">
                <a16:creationId xmlns:a16="http://schemas.microsoft.com/office/drawing/2014/main" id="{FBB82CD8-8B95-94CA-849F-3BDB822BD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AEFC0EE-737C-A818-81F5-F01AAC3AD70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6153" name="Slide Number Placeholder 8">
            <a:extLst>
              <a:ext uri="{FF2B5EF4-FFF2-40B4-BE49-F238E27FC236}">
                <a16:creationId xmlns:a16="http://schemas.microsoft.com/office/drawing/2014/main" id="{D82D410C-D2C4-A521-8E7F-C2FD9553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D283C4A-2F00-4725-A456-1D5B71630BF3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B1020E0-7E13-B113-7C76-123B244B0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7800" y="6416675"/>
            <a:ext cx="67056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FDD3EB14-10AD-C232-851D-073AB3932176}"/>
              </a:ext>
            </a:extLst>
          </p:cNvPr>
          <p:cNvSpPr txBox="1"/>
          <p:nvPr/>
        </p:nvSpPr>
        <p:spPr>
          <a:xfrm>
            <a:off x="304801" y="1468628"/>
            <a:ext cx="8610600" cy="44922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5104" algn="ctr">
              <a:spcBef>
                <a:spcPts val="130"/>
              </a:spcBef>
            </a:pP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lang="en-IN" sz="2800" b="1" u="sng" spc="-10" dirty="0">
              <a:uFill>
                <a:solidFill>
                  <a:srgbClr val="000000"/>
                </a:solidFill>
              </a:uFill>
              <a:latin typeface="Times New Roman"/>
              <a:cs typeface="Times New Roman"/>
            </a:endParaRPr>
          </a:p>
          <a:p>
            <a:pPr marL="205104" algn="ctr">
              <a:spcBef>
                <a:spcPts val="130"/>
              </a:spcBef>
            </a:pPr>
            <a:endParaRPr lang="en-IN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Steganography 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secure communication by hiding confidential information within digital media such as images, audio, or video files, ensuring data secrecy and integrity.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Security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sensitive data from unauthorized access and cyber threats through advanced encryption and embedding techniques.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&amp; Accuracy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Automates the data-hiding process, reduces human error, and ensures accurate retrieval of hidden information without affecting media quality.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Confidential Communication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Strengthens secure data exchange between authorized users, ensuring privacy and trust in digital communication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3D0168-F16A-C5FD-8886-9FDE0D041794}"/>
              </a:ext>
            </a:extLst>
          </p:cNvPr>
          <p:cNvSpPr/>
          <p:nvPr/>
        </p:nvSpPr>
        <p:spPr>
          <a:xfrm>
            <a:off x="152400" y="88519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7175" name="image1.jpeg">
            <a:extLst>
              <a:ext uri="{FF2B5EF4-FFF2-40B4-BE49-F238E27FC236}">
                <a16:creationId xmlns:a16="http://schemas.microsoft.com/office/drawing/2014/main" id="{1A6B8322-4A6A-2DCF-3B50-F3DE9D4FE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C8DBCE2-0687-647B-783D-FF1B6A0C6BA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7177" name="Slide Number Placeholder 8">
            <a:extLst>
              <a:ext uri="{FF2B5EF4-FFF2-40B4-BE49-F238E27FC236}">
                <a16:creationId xmlns:a16="http://schemas.microsoft.com/office/drawing/2014/main" id="{EB51CDFC-C198-4E80-CAB7-BC9F75783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701BA24-1543-4C25-A8E6-51088701954C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E6C8756-82BB-431C-34F9-9C49E74F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7800" y="6339705"/>
            <a:ext cx="6705600" cy="429776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DA6153E9-3A5C-C86E-4F36-A6F418EEB1F3}"/>
              </a:ext>
            </a:extLst>
          </p:cNvPr>
          <p:cNvSpPr txBox="1"/>
          <p:nvPr/>
        </p:nvSpPr>
        <p:spPr>
          <a:xfrm>
            <a:off x="2594864" y="145796"/>
            <a:ext cx="495300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ts val="1775"/>
              </a:lnSpc>
              <a:spcBef>
                <a:spcPts val="135"/>
              </a:spcBef>
            </a:pPr>
            <a:r>
              <a:rPr sz="1500" b="1" i="1" spc="-10" dirty="0">
                <a:latin typeface="Times New Roman"/>
                <a:cs typeface="Times New Roman"/>
              </a:rPr>
              <a:t>SRES’s</a:t>
            </a:r>
            <a:endParaRPr sz="1500" dirty="0">
              <a:latin typeface="Times New Roman"/>
              <a:cs typeface="Times New Roman"/>
            </a:endParaRPr>
          </a:p>
          <a:p>
            <a:pPr algn="ctr">
              <a:lnSpc>
                <a:spcPts val="1760"/>
              </a:lnSpc>
            </a:pPr>
            <a:r>
              <a:rPr sz="1500" b="1" dirty="0">
                <a:latin typeface="Times New Roman"/>
                <a:cs typeface="Times New Roman"/>
              </a:rPr>
              <a:t>SHREE</a:t>
            </a:r>
            <a:r>
              <a:rPr sz="1500" b="1" spc="10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RAMCHANDRA</a:t>
            </a:r>
            <a:r>
              <a:rPr sz="1500" b="1" spc="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COLLEGE</a:t>
            </a:r>
            <a:r>
              <a:rPr sz="1500" b="1" spc="1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10" dirty="0">
                <a:latin typeface="Times New Roman"/>
                <a:cs typeface="Times New Roman"/>
              </a:rPr>
              <a:t> ENGINEERING</a:t>
            </a:r>
            <a:endParaRPr sz="1500" dirty="0">
              <a:latin typeface="Times New Roman"/>
              <a:cs typeface="Times New Roman"/>
            </a:endParaRPr>
          </a:p>
          <a:p>
            <a:pPr marL="6350" algn="ctr">
              <a:lnSpc>
                <a:spcPts val="1764"/>
              </a:lnSpc>
            </a:pPr>
            <a:r>
              <a:rPr sz="1500" dirty="0">
                <a:latin typeface="Times New Roman"/>
                <a:cs typeface="Times New Roman"/>
              </a:rPr>
              <a:t>Lonikand,</a:t>
            </a:r>
            <a:r>
              <a:rPr sz="1500" spc="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Pune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–</a:t>
            </a:r>
            <a:r>
              <a:rPr sz="1500" spc="8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412216</a:t>
            </a:r>
            <a:endParaRPr sz="1500" dirty="0">
              <a:latin typeface="Times New Roman"/>
              <a:cs typeface="Times New Roman"/>
            </a:endParaRPr>
          </a:p>
          <a:p>
            <a:pPr marL="4445" algn="ctr">
              <a:lnSpc>
                <a:spcPts val="1780"/>
              </a:lnSpc>
            </a:pPr>
            <a:r>
              <a:rPr sz="1500" b="1" dirty="0">
                <a:latin typeface="Times New Roman"/>
                <a:cs typeface="Times New Roman"/>
              </a:rPr>
              <a:t>Department</a:t>
            </a:r>
            <a:r>
              <a:rPr sz="1500" b="1" spc="7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7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Computer</a:t>
            </a:r>
            <a:r>
              <a:rPr sz="1500" b="1" spc="5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Engineering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CF912931-C9EC-DE8D-207A-DFB6493BC029}"/>
              </a:ext>
            </a:extLst>
          </p:cNvPr>
          <p:cNvSpPr txBox="1"/>
          <p:nvPr/>
        </p:nvSpPr>
        <p:spPr>
          <a:xfrm>
            <a:off x="2867621" y="1416846"/>
            <a:ext cx="4525010" cy="49593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PROBLEM</a:t>
            </a:r>
            <a:r>
              <a:rPr lang="en-IN" sz="30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50" b="1" u="sng" spc="-1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  <a:endParaRPr sz="3050" dirty="0">
              <a:latin typeface="Times New Roman"/>
              <a:cs typeface="Times New Roman"/>
            </a:endParaRP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FFB3D262-00E7-C8A3-73AE-486429F842B5}"/>
              </a:ext>
            </a:extLst>
          </p:cNvPr>
          <p:cNvSpPr txBox="1"/>
          <p:nvPr/>
        </p:nvSpPr>
        <p:spPr>
          <a:xfrm>
            <a:off x="709651" y="2593708"/>
            <a:ext cx="8016773" cy="11240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400" dirty="0">
                <a:latin typeface="Times New Roman"/>
                <a:cs typeface="Times New Roman"/>
              </a:rPr>
              <a:t>To develop and design a Secure Data Transmission System Using Data Steganography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resilient to detection and extraction by unauthorized parties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DA73D6-1990-F806-4EAF-E20F73454E4C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D4286DE-B31D-7B6C-EF16-2062BEE9DA0F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199" name="image1.jpeg">
            <a:extLst>
              <a:ext uri="{FF2B5EF4-FFF2-40B4-BE49-F238E27FC236}">
                <a16:creationId xmlns:a16="http://schemas.microsoft.com/office/drawing/2014/main" id="{A6DF2E7C-1D40-D9E2-7C94-A1268FC7C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028E77B-7A6F-B80A-5A4D-E63B1E7DF28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8201" name="Slide Number Placeholder 8">
            <a:extLst>
              <a:ext uri="{FF2B5EF4-FFF2-40B4-BE49-F238E27FC236}">
                <a16:creationId xmlns:a16="http://schemas.microsoft.com/office/drawing/2014/main" id="{FAB8E151-DCB4-DDE0-E53F-B8BE7E45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AC59B66-629A-4855-A984-92C3FEF67B52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0E97933-05F3-6616-E03D-739461205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553200" cy="501650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8203" name="Rectangle 1">
            <a:extLst>
              <a:ext uri="{FF2B5EF4-FFF2-40B4-BE49-F238E27FC236}">
                <a16:creationId xmlns:a16="http://schemas.microsoft.com/office/drawing/2014/main" id="{AC6DEFA7-F840-2F8D-AD1D-6CD6563ED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2" y="1430338"/>
            <a:ext cx="8169275" cy="4582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R="250190" algn="ctr">
              <a:lnSpc>
                <a:spcPct val="100000"/>
              </a:lnSpc>
              <a:spcBef>
                <a:spcPts val="130"/>
              </a:spcBef>
            </a:pPr>
            <a:r>
              <a:rPr lang="en-US" b="1" dirty="0"/>
              <a:t> </a:t>
            </a:r>
            <a:r>
              <a:rPr lang="en-IN"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OBJECTIVES</a:t>
            </a:r>
            <a:endParaRPr lang="en-IN" sz="2800" dirty="0">
              <a:latin typeface="Times New Roman"/>
              <a:cs typeface="Times New Roman"/>
            </a:endParaRPr>
          </a:p>
          <a:p>
            <a:pPr algn="ctr">
              <a:defRPr/>
            </a:pPr>
            <a:endParaRPr lang="en-US" sz="2400" b="1" dirty="0">
              <a:latin typeface="LubalGraph Md BT" pitchFamily="18" charset="0"/>
            </a:endParaRP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To study and analyze existing methods of image and audio steganography.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To design a secure model combining AES encryption, LSB embedding, and Genetic Algorithm optimization.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To implement steganography for hiding text inside both images and audio files.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To ensure data integrity and imperceptibility of hidden content.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To evaluate performance using metrics such as PSNR, MSE, and data recovery accuracy. 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To develop a user-friendly Java-based interface for encoding and decoding hidden messages.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1365D5-2FC1-74B0-3D68-C155DF119D24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A09D179-9F36-0789-92D5-6340FDF3750B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Lonikand, Pune – 412216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9223" name="image1.jpeg">
            <a:extLst>
              <a:ext uri="{FF2B5EF4-FFF2-40B4-BE49-F238E27FC236}">
                <a16:creationId xmlns:a16="http://schemas.microsoft.com/office/drawing/2014/main" id="{EC3748D6-84A0-46B8-EBEF-B8302C454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5EAC5F-BAE0-95A0-58D8-1AC72B7F06A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 dirty="0"/>
          </a:p>
        </p:txBody>
      </p:sp>
      <p:sp>
        <p:nvSpPr>
          <p:cNvPr id="9225" name="Slide Number Placeholder 8">
            <a:extLst>
              <a:ext uri="{FF2B5EF4-FFF2-40B4-BE49-F238E27FC236}">
                <a16:creationId xmlns:a16="http://schemas.microsoft.com/office/drawing/2014/main" id="{6CD2073F-06F5-19BC-5EB9-27337129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EBF166E-9D62-4942-B3C2-E95B8BD83F1B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1F69001-3968-8EE8-2004-116E95318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553200" cy="501649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4FC64A86-EE5C-5D40-0C34-1F4E782E8396}"/>
              </a:ext>
            </a:extLst>
          </p:cNvPr>
          <p:cNvSpPr txBox="1"/>
          <p:nvPr/>
        </p:nvSpPr>
        <p:spPr>
          <a:xfrm>
            <a:off x="874395" y="1296895"/>
            <a:ext cx="7395209" cy="478720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spcBef>
                <a:spcPts val="35"/>
              </a:spcBef>
              <a:tabLst>
                <a:tab pos="390525" algn="l"/>
              </a:tabLst>
            </a:pPr>
            <a:r>
              <a:rPr lang="en-IN"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SCOPE</a:t>
            </a:r>
            <a:r>
              <a:rPr lang="en-IN" sz="2800" b="1" u="sng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IN"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lang="en-IN" sz="2800" b="1" u="sng" spc="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IN"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endParaRPr lang="en-US" sz="2800" b="1" spc="-10" dirty="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90525" algn="l"/>
              </a:tabLst>
            </a:pPr>
            <a:endParaRPr lang="en-US" sz="1950" b="1" spc="-10" dirty="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90525" algn="l"/>
              </a:tabLst>
            </a:pPr>
            <a:r>
              <a:rPr lang="en-US" sz="1950" b="1" spc="-10" dirty="0">
                <a:latin typeface="Times New Roman"/>
                <a:cs typeface="Times New Roman"/>
              </a:rPr>
              <a:t>Secure Data Transmission:</a:t>
            </a:r>
            <a:endParaRPr lang="en-US" sz="1950" dirty="0">
              <a:latin typeface="Times New Roman"/>
              <a:cs typeface="Times New Roman"/>
            </a:endParaRPr>
          </a:p>
          <a:p>
            <a:pPr marL="1017905" lvl="1">
              <a:lnSpc>
                <a:spcPct val="100000"/>
              </a:lnSpc>
              <a:spcBef>
                <a:spcPts val="40"/>
              </a:spcBef>
              <a:tabLst>
                <a:tab pos="116332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enables embedding secret information within digital media files (images, audio, or video) so that sensitive data can be transmitted without detection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0525" indent="-37782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90525" algn="l"/>
              </a:tabLst>
            </a:pPr>
            <a:r>
              <a:rPr lang="en-IN" sz="1950" b="1" spc="-10" dirty="0">
                <a:latin typeface="Times New Roman"/>
                <a:cs typeface="Times New Roman"/>
              </a:rPr>
              <a:t>User Roles And Access</a:t>
            </a:r>
            <a:r>
              <a:rPr sz="1950" b="1" spc="-10" dirty="0">
                <a:latin typeface="Times New Roman"/>
                <a:cs typeface="Times New Roman"/>
              </a:rPr>
              <a:t>:</a:t>
            </a:r>
            <a:endParaRPr sz="1950" dirty="0">
              <a:latin typeface="Times New Roman"/>
              <a:cs typeface="Times New Roman"/>
            </a:endParaRPr>
          </a:p>
          <a:p>
            <a:pPr marL="891539" lvl="1">
              <a:lnSpc>
                <a:spcPct val="100000"/>
              </a:lnSpc>
              <a:spcBef>
                <a:spcPts val="35"/>
              </a:spcBef>
              <a:tabLst>
                <a:tab pos="1039494" algn="l"/>
              </a:tabLst>
            </a:pPr>
            <a:r>
              <a:rPr lang="en-IN" sz="1950" dirty="0">
                <a:latin typeface="Times New Roman"/>
                <a:cs typeface="Times New Roman"/>
              </a:rPr>
              <a:t>Sender: Can hide data using steganography techniques.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390525" algn="l"/>
              </a:tabLst>
            </a:pPr>
            <a:r>
              <a:rPr lang="en-IN" sz="1950" b="1" dirty="0">
                <a:latin typeface="Times New Roman"/>
                <a:cs typeface="Times New Roman"/>
              </a:rPr>
              <a:t>              </a:t>
            </a:r>
            <a:r>
              <a:rPr lang="en-IN" sz="1950" dirty="0">
                <a:latin typeface="Times New Roman"/>
                <a:cs typeface="Times New Roman"/>
              </a:rPr>
              <a:t>Receiver: Can extract hidden information using correct key.</a:t>
            </a:r>
            <a:endParaRPr lang="en-IN" sz="1950" b="1" dirty="0">
              <a:latin typeface="Times New Roman"/>
              <a:cs typeface="Times New Roman"/>
            </a:endParaRPr>
          </a:p>
          <a:p>
            <a:pPr marL="390525" indent="-377825">
              <a:lnSpc>
                <a:spcPct val="100000"/>
              </a:lnSpc>
              <a:spcBef>
                <a:spcPts val="35"/>
              </a:spcBef>
              <a:buFont typeface="Arial"/>
              <a:buChar char="•"/>
              <a:tabLst>
                <a:tab pos="390525" algn="l"/>
              </a:tabLst>
            </a:pPr>
            <a:r>
              <a:rPr lang="en-IN" sz="1950" b="1" dirty="0">
                <a:latin typeface="Times New Roman"/>
                <a:cs typeface="Times New Roman"/>
              </a:rPr>
              <a:t>Supported Media </a:t>
            </a:r>
            <a:r>
              <a:rPr lang="en-IN" sz="1950" b="1" dirty="0" err="1">
                <a:latin typeface="Times New Roman"/>
                <a:cs typeface="Times New Roman"/>
              </a:rPr>
              <a:t>Formates</a:t>
            </a:r>
            <a:r>
              <a:rPr lang="en-IN" sz="1950" b="1" dirty="0">
                <a:latin typeface="Times New Roman"/>
                <a:cs typeface="Times New Roman"/>
              </a:rPr>
              <a:t> </a:t>
            </a:r>
            <a:r>
              <a:rPr sz="1950" b="1" spc="-10" dirty="0">
                <a:latin typeface="Times New Roman"/>
                <a:cs typeface="Times New Roman"/>
              </a:rPr>
              <a:t>:</a:t>
            </a:r>
            <a:endParaRPr sz="1950" dirty="0">
              <a:latin typeface="Times New Roman"/>
              <a:cs typeface="Times New Roman"/>
            </a:endParaRPr>
          </a:p>
          <a:p>
            <a:pPr marL="1017905" lvl="1">
              <a:lnSpc>
                <a:spcPct val="100000"/>
              </a:lnSpc>
              <a:spcBef>
                <a:spcPts val="35"/>
              </a:spcBef>
              <a:tabLst>
                <a:tab pos="116332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support common media formats such as JPEG, PNG, WAV, and MP4 for embedding and extraction of hidden data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r>
              <a:rPr lang="en-IN" sz="1950" b="1" dirty="0">
                <a:latin typeface="Times New Roman"/>
                <a:cs typeface="Times New Roman"/>
              </a:rPr>
              <a:t>Security </a:t>
            </a:r>
            <a:r>
              <a:rPr lang="en-US" sz="1950" b="1" spc="-10" dirty="0">
                <a:latin typeface="Times New Roman"/>
                <a:cs typeface="Times New Roman"/>
              </a:rPr>
              <a:t>:</a:t>
            </a:r>
            <a:endParaRPr lang="en-US" sz="1950" dirty="0">
              <a:latin typeface="Times New Roman"/>
              <a:cs typeface="Times New Roman"/>
            </a:endParaRPr>
          </a:p>
          <a:p>
            <a:pPr marL="1017905" lvl="1">
              <a:lnSpc>
                <a:spcPct val="100000"/>
              </a:lnSpc>
              <a:spcBef>
                <a:spcPts val="35"/>
              </a:spcBef>
              <a:tabLst>
                <a:tab pos="116332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algorithms (e.g., LSB  or PCA-based methods) will be used to ensure that the hidden data remains secure and intact without noticeable changes in media quality</a:t>
            </a:r>
            <a:r>
              <a:rPr lang="en-US" sz="1950" spc="-10" dirty="0">
                <a:latin typeface="Times New Roman"/>
                <a:cs typeface="Times New Roman"/>
              </a:rPr>
              <a:t>.</a:t>
            </a:r>
            <a:endParaRPr lang="en-US" sz="19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5C75-E64E-2E49-AEE2-0B8E57F4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11DD4E-6489-3FAD-CC2E-C9696EB2E67D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4820A8-B431-BCD3-6293-7255EFFD84F4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71600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Lonikand, Pune – 412216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4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247" name="image1.jpeg">
            <a:extLst>
              <a:ext uri="{FF2B5EF4-FFF2-40B4-BE49-F238E27FC236}">
                <a16:creationId xmlns:a16="http://schemas.microsoft.com/office/drawing/2014/main" id="{C6258B62-E7D3-FF76-4D50-DB83FA3A8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B0E65D2-F003-CD97-32E1-2A8EA5978E4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10249" name="Slide Number Placeholder 8">
            <a:extLst>
              <a:ext uri="{FF2B5EF4-FFF2-40B4-BE49-F238E27FC236}">
                <a16:creationId xmlns:a16="http://schemas.microsoft.com/office/drawing/2014/main" id="{0E1CF402-BB0E-6D25-C541-C2EAC907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D51AA07-BBE9-4889-889D-957AFC5B2FFC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E41442-11AD-4897-EEC0-3E9031F6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7800" y="6418928"/>
            <a:ext cx="7239000" cy="425450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7B0D6886-38E2-561B-7D66-80ED31804CA6}"/>
              </a:ext>
            </a:extLst>
          </p:cNvPr>
          <p:cNvSpPr txBox="1"/>
          <p:nvPr/>
        </p:nvSpPr>
        <p:spPr>
          <a:xfrm>
            <a:off x="2895600" y="1182371"/>
            <a:ext cx="4319270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LITERATUR</a:t>
            </a:r>
            <a:r>
              <a:rPr lang="en-IN"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 </a:t>
            </a:r>
            <a:r>
              <a:rPr sz="2800" b="1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SURVEY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420668-6447-9D08-D85E-D5A9BA317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18786"/>
            <a:ext cx="8534400" cy="418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59518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9B44-BB98-3020-AFC6-721DB8C7D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CCF733-996B-BAE5-F83C-90409B0B861F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742BF66-C745-70EB-249F-ED974D9C7D15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71600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Lonikand, Pune – 412216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4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247" name="image1.jpeg">
            <a:extLst>
              <a:ext uri="{FF2B5EF4-FFF2-40B4-BE49-F238E27FC236}">
                <a16:creationId xmlns:a16="http://schemas.microsoft.com/office/drawing/2014/main" id="{58C46E11-4C8F-3BFF-D9C0-9BDD91E73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7861F4A-1F5B-6BE6-70CC-3435BA8144B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10249" name="Slide Number Placeholder 8">
            <a:extLst>
              <a:ext uri="{FF2B5EF4-FFF2-40B4-BE49-F238E27FC236}">
                <a16:creationId xmlns:a16="http://schemas.microsoft.com/office/drawing/2014/main" id="{23DD4AAF-CD0B-E18C-C4F0-B81A4171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D51AA07-BBE9-4889-889D-957AFC5B2FFC}" type="slidenum">
              <a:rPr lang="en-US" altLang="en-US">
                <a:solidFill>
                  <a:srgbClr val="898989"/>
                </a:solidFill>
              </a:rPr>
              <a:pPr/>
              <a:t>8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35AA55-ED7D-ECFF-5A87-19160A27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7800" y="6418928"/>
            <a:ext cx="7239000" cy="425450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DF2934F2-F0E0-3595-139F-583563BC9DE8}"/>
              </a:ext>
            </a:extLst>
          </p:cNvPr>
          <p:cNvSpPr txBox="1"/>
          <p:nvPr/>
        </p:nvSpPr>
        <p:spPr>
          <a:xfrm>
            <a:off x="2895600" y="1182371"/>
            <a:ext cx="4319270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LITERATUR</a:t>
            </a:r>
            <a:r>
              <a:rPr lang="en-IN"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 </a:t>
            </a:r>
            <a:r>
              <a:rPr sz="2800" b="1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SURVEY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15CCB-34EA-A393-3FB4-1B446356B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56641"/>
            <a:ext cx="8534400" cy="459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6934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8D3B5B-3095-14DD-7834-A80347A3235E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2326FA6-6265-9393-96FF-11AA1987F48B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271" name="image1.jpeg">
            <a:extLst>
              <a:ext uri="{FF2B5EF4-FFF2-40B4-BE49-F238E27FC236}">
                <a16:creationId xmlns:a16="http://schemas.microsoft.com/office/drawing/2014/main" id="{A769B89C-2CBA-BC5A-E1D9-3F26346B7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B63F24-D1F7-E93D-2D32-1F50A9AE2BB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11273" name="Slide Number Placeholder 8">
            <a:extLst>
              <a:ext uri="{FF2B5EF4-FFF2-40B4-BE49-F238E27FC236}">
                <a16:creationId xmlns:a16="http://schemas.microsoft.com/office/drawing/2014/main" id="{A29D0BC9-F0A3-70A5-8F86-7A55D1C27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C0001A9-2E18-4E00-9E3E-4860825264F9}" type="slidenum">
              <a:rPr lang="en-US" altLang="en-US">
                <a:solidFill>
                  <a:srgbClr val="898989"/>
                </a:solidFill>
              </a:rPr>
              <a:pPr/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A74A985-1A28-5596-58BC-FD41EDF2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356350"/>
            <a:ext cx="64770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11275" name="Rectangle 12">
            <a:extLst>
              <a:ext uri="{FF2B5EF4-FFF2-40B4-BE49-F238E27FC236}">
                <a16:creationId xmlns:a16="http://schemas.microsoft.com/office/drawing/2014/main" id="{344699D7-CBE6-5485-3FE8-407E567AB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438"/>
            <a:ext cx="0" cy="314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6501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9F36421E-664A-4932-40E4-33B08677E0BD}"/>
              </a:ext>
            </a:extLst>
          </p:cNvPr>
          <p:cNvSpPr txBox="1"/>
          <p:nvPr/>
        </p:nvSpPr>
        <p:spPr>
          <a:xfrm>
            <a:off x="837883" y="1189038"/>
            <a:ext cx="7468234" cy="490326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067435" algn="ctr">
              <a:lnSpc>
                <a:spcPct val="100000"/>
              </a:lnSpc>
              <a:spcBef>
                <a:spcPts val="915"/>
              </a:spcBef>
            </a:pPr>
            <a:r>
              <a:rPr sz="30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SYSTEM</a:t>
            </a:r>
            <a:r>
              <a:rPr sz="305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0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3050" dirty="0">
              <a:latin typeface="Times New Roman"/>
              <a:cs typeface="Times New Roman"/>
            </a:endParaRPr>
          </a:p>
          <a:p>
            <a:pPr marL="1068705" algn="ctr">
              <a:lnSpc>
                <a:spcPct val="100000"/>
              </a:lnSpc>
              <a:spcBef>
                <a:spcPts val="740"/>
              </a:spcBef>
            </a:pPr>
            <a:r>
              <a:rPr sz="285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2850"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5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2850" dirty="0">
              <a:latin typeface="Times New Roman"/>
              <a:cs typeface="Times New Roman"/>
            </a:endParaRPr>
          </a:p>
          <a:p>
            <a:pPr marL="457200" indent="-457200">
              <a:lnSpc>
                <a:spcPct val="100000"/>
              </a:lnSpc>
              <a:spcBef>
                <a:spcPts val="150"/>
              </a:spcBef>
              <a:buFont typeface="Wingdings" panose="05000000000000000000" pitchFamily="2" charset="2"/>
              <a:buChar char="§"/>
            </a:pPr>
            <a:endParaRPr sz="2850" dirty="0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Software Programming Language: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Java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JDK Version: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21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IDE: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IntelliJ IDEA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GUI Toolkit: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Java Swing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Key Libraries: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javax.swing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(GUI)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java.util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(Data Structures)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java.io (File I/O)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java.sql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(Database for user profiles)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C97117-9195-4696-616A-51186D3F00BC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E10F665-8495-0653-B6EE-AD2E2CA9C95B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Lonikand, Pune – 412216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295" name="image1.jpeg">
            <a:extLst>
              <a:ext uri="{FF2B5EF4-FFF2-40B4-BE49-F238E27FC236}">
                <a16:creationId xmlns:a16="http://schemas.microsoft.com/office/drawing/2014/main" id="{11AB5185-1715-B489-C3E1-0CB72D975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63AA757-05D0-C1EF-A8B2-8CBAF2E986F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12297" name="Slide Number Placeholder 8">
            <a:extLst>
              <a:ext uri="{FF2B5EF4-FFF2-40B4-BE49-F238E27FC236}">
                <a16:creationId xmlns:a16="http://schemas.microsoft.com/office/drawing/2014/main" id="{7DC60BD2-E15E-C0BB-CDD0-BE5BE8B4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C9B0C5A-AB9A-43D6-8B29-700248DF262B}" type="slidenum">
              <a:rPr lang="en-US" altLang="en-US">
                <a:solidFill>
                  <a:srgbClr val="898989"/>
                </a:solidFill>
              </a:rPr>
              <a:pPr/>
              <a:t>10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3F3598F-DF97-23A5-01DC-456AC341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492875"/>
            <a:ext cx="6400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6CFA9A7-9B0E-8B75-6EFB-3525B9553B5C}"/>
              </a:ext>
            </a:extLst>
          </p:cNvPr>
          <p:cNvSpPr txBox="1"/>
          <p:nvPr/>
        </p:nvSpPr>
        <p:spPr>
          <a:xfrm>
            <a:off x="457200" y="1263191"/>
            <a:ext cx="8458200" cy="5290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algn="ctr">
              <a:spcBef>
                <a:spcPct val="0"/>
              </a:spcBef>
            </a:pPr>
            <a:r>
              <a:rPr lang="en-IN" alt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algn="ctr">
              <a:spcBef>
                <a:spcPct val="0"/>
              </a:spcBef>
            </a:pPr>
            <a:endParaRPr lang="en-IN" sz="2400" b="1" dirty="0">
              <a:latin typeface="LubalGraph Md BT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Hardware &amp; UI Hardware Requirements: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Processor: Core i5 or higher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RAM: 8GB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Hard Disk: 500 GB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User Interface:</a:t>
            </a: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Built using Java Swing.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Provides forms for: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User Registration &amp; Login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Image/Audio Encoding &amp; Decoding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Sending encoded files via Email.</a:t>
            </a:r>
          </a:p>
          <a:p>
            <a:pPr algn="just"/>
            <a:endParaRPr lang="en-IN" sz="240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9047F7-75B3-25AD-3A9C-991A1F2E0B5D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8BF506-67B4-1059-958A-5F5B9D523370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Lonikand, Pune – 412216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319" name="image1.jpeg">
            <a:extLst>
              <a:ext uri="{FF2B5EF4-FFF2-40B4-BE49-F238E27FC236}">
                <a16:creationId xmlns:a16="http://schemas.microsoft.com/office/drawing/2014/main" id="{874B99E3-B801-9F6A-1CD2-A21F9F0EE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586BEF4-877B-3298-985D-30E8BBB213D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13321" name="Slide Number Placeholder 8">
            <a:extLst>
              <a:ext uri="{FF2B5EF4-FFF2-40B4-BE49-F238E27FC236}">
                <a16:creationId xmlns:a16="http://schemas.microsoft.com/office/drawing/2014/main" id="{09682D07-6660-15D1-F143-6FA585854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D171148-7723-414E-BDF1-1B12AA27700D}" type="slidenum">
              <a:rPr lang="en-US" altLang="en-US">
                <a:solidFill>
                  <a:srgbClr val="898989"/>
                </a:solidFill>
              </a:rPr>
              <a:pPr/>
              <a:t>11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3BE3634-5015-03F9-ACAB-E0371BDE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356350"/>
            <a:ext cx="6629400" cy="501650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1C05719E-44F5-E242-D386-6E1D9E96A5AF}"/>
              </a:ext>
            </a:extLst>
          </p:cNvPr>
          <p:cNvSpPr txBox="1"/>
          <p:nvPr/>
        </p:nvSpPr>
        <p:spPr>
          <a:xfrm>
            <a:off x="1676400" y="1076960"/>
            <a:ext cx="720458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EXISTING SYSTEM</a:t>
            </a:r>
            <a:endParaRPr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2C6867D4-C68C-8721-8B59-0C23F879FEC3}"/>
              </a:ext>
            </a:extLst>
          </p:cNvPr>
          <p:cNvSpPr txBox="1"/>
          <p:nvPr/>
        </p:nvSpPr>
        <p:spPr>
          <a:xfrm>
            <a:off x="593725" y="1748136"/>
            <a:ext cx="7599933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Size Constraints 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Large files may slow down the embedding and extraction process, and excessive data embedding may degrade media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 Restrictions 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may support only specific file formats (e.g., JPEG, PNG, WAV, MP4) for embedding, limiting compatibility.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for Compatible Tools 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sender and receiver must use compatible embedding and extraction tools for successful communication.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Detection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steganalysis tools can detect the presence of hidden data, which may compromise secrecy.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3CC24E-1391-FAB6-BDBE-9053848B45E4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BF23B5B-51F8-3C9A-F718-D9DDCFFFB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95084"/>
              </p:ext>
            </p:extLst>
          </p:nvPr>
        </p:nvGraphicFramePr>
        <p:xfrm>
          <a:off x="1371600" y="76200"/>
          <a:ext cx="6477000" cy="4070817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Lonikand, Pune – 412216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9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4344" name="image1.jpeg">
            <a:extLst>
              <a:ext uri="{FF2B5EF4-FFF2-40B4-BE49-F238E27FC236}">
                <a16:creationId xmlns:a16="http://schemas.microsoft.com/office/drawing/2014/main" id="{FE4EC47E-8292-71CF-AA9B-764D9C0DD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2D5E09D-B4F7-F7A9-80F6-728FA5BF5F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14346" name="Slide Number Placeholder 8">
            <a:extLst>
              <a:ext uri="{FF2B5EF4-FFF2-40B4-BE49-F238E27FC236}">
                <a16:creationId xmlns:a16="http://schemas.microsoft.com/office/drawing/2014/main" id="{6DC61CC1-4A58-7372-4001-7A36F8C2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BD69A32-63AE-4B6E-B99E-14FCB3FE0F4E}" type="slidenum">
              <a:rPr lang="en-US" altLang="en-US">
                <a:solidFill>
                  <a:srgbClr val="898989"/>
                </a:solidFill>
              </a:rPr>
              <a:pPr/>
              <a:t>12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AF70ED2-89E7-E24E-41E2-1075A3728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2600" y="6392862"/>
            <a:ext cx="6553200" cy="32067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348501AF-6BB9-0796-6B70-2B8B9DBC6475}"/>
              </a:ext>
            </a:extLst>
          </p:cNvPr>
          <p:cNvSpPr txBox="1"/>
          <p:nvPr/>
        </p:nvSpPr>
        <p:spPr>
          <a:xfrm>
            <a:off x="685800" y="1252932"/>
            <a:ext cx="80632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R="29209" algn="ctr">
              <a:lnSpc>
                <a:spcPct val="100000"/>
              </a:lnSpc>
            </a:pPr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ROPOSED APPROACH</a:t>
            </a: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5174207D-E468-EFBC-503E-9295DC90836D}"/>
              </a:ext>
            </a:extLst>
          </p:cNvPr>
          <p:cNvSpPr txBox="1"/>
          <p:nvPr/>
        </p:nvSpPr>
        <p:spPr>
          <a:xfrm>
            <a:off x="685800" y="1891387"/>
            <a:ext cx="80632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text, image and audio as input.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Extraction: </a:t>
            </a:r>
            <a:r>
              <a:rPr lang="en-US" sz="22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optimal frames from media for embedding.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LSB </a:t>
            </a:r>
            <a:r>
              <a:rPr lang="en-IN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Labeling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data to binary and embed using Least Significant Bit technique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Steganography Embedding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encrypted data into selected frames.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encoded image/audio with hidden text for secure sharing.</a:t>
            </a:r>
            <a:endParaRPr lang="en-IN" sz="2200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785E-2F93-CBCC-B101-4EBD88E5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97AB9A-CC1F-577B-AD0C-A519898DE008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BE3C185-3DE3-382D-F8D7-C02C73094EAB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7415" name="image1.jpeg">
            <a:extLst>
              <a:ext uri="{FF2B5EF4-FFF2-40B4-BE49-F238E27FC236}">
                <a16:creationId xmlns:a16="http://schemas.microsoft.com/office/drawing/2014/main" id="{FE58F234-E6F5-97BD-0A6E-2AC1B3BF6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8AE4E87-E72A-0E7B-E0D7-FB8FA953133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17417" name="Slide Number Placeholder 8">
            <a:extLst>
              <a:ext uri="{FF2B5EF4-FFF2-40B4-BE49-F238E27FC236}">
                <a16:creationId xmlns:a16="http://schemas.microsoft.com/office/drawing/2014/main" id="{C26C4993-13D8-E452-081E-5092415E6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1B729B7-B5A7-4C9A-8FE8-B78D30B419CD}" type="slidenum">
              <a:rPr lang="en-US" altLang="en-US">
                <a:solidFill>
                  <a:srgbClr val="898989"/>
                </a:solidFill>
              </a:rPr>
              <a:pPr/>
              <a:t>13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914EFA3-71A1-B8C9-8679-880102DFE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65532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12A6683F-C2D5-A861-C791-41B05A942CA3}"/>
              </a:ext>
            </a:extLst>
          </p:cNvPr>
          <p:cNvSpPr txBox="1"/>
          <p:nvPr/>
        </p:nvSpPr>
        <p:spPr>
          <a:xfrm>
            <a:off x="1524000" y="1234219"/>
            <a:ext cx="56215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89A1E3E3-9855-B5B9-F579-B954CE5424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7B0800-CC0E-8148-6C70-39398C706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01" y="1827543"/>
            <a:ext cx="8229600" cy="437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5655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B596C3-1C07-9505-7547-A7C0A928EC2C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DFA1D72-9472-4026-2BFC-D755B1BC021B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439" name="image1.jpeg">
            <a:extLst>
              <a:ext uri="{FF2B5EF4-FFF2-40B4-BE49-F238E27FC236}">
                <a16:creationId xmlns:a16="http://schemas.microsoft.com/office/drawing/2014/main" id="{E53E3BB5-761F-382F-D63F-567E5200F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6630B98-43E5-20B5-BE22-26AB526F89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18441" name="Slide Number Placeholder 8">
            <a:extLst>
              <a:ext uri="{FF2B5EF4-FFF2-40B4-BE49-F238E27FC236}">
                <a16:creationId xmlns:a16="http://schemas.microsoft.com/office/drawing/2014/main" id="{D04E59AA-56FF-46D4-8E5F-75269E0F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986BF00-88FB-4709-9E4E-ACFE9D6106B5}" type="slidenum">
              <a:rPr lang="en-US" altLang="en-US">
                <a:solidFill>
                  <a:srgbClr val="898989"/>
                </a:solidFill>
              </a:rPr>
              <a:pPr/>
              <a:t>14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006E5C9-FBE2-E760-53E0-7DF2F94C4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64770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80E02A-93DC-CF3A-478E-87990D8E0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38400"/>
            <a:ext cx="8229600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object 9">
            <a:extLst>
              <a:ext uri="{FF2B5EF4-FFF2-40B4-BE49-F238E27FC236}">
                <a16:creationId xmlns:a16="http://schemas.microsoft.com/office/drawing/2014/main" id="{780CBDE4-2147-81BA-73CB-4C8B0C2DBF7A}"/>
              </a:ext>
            </a:extLst>
          </p:cNvPr>
          <p:cNvSpPr txBox="1"/>
          <p:nvPr/>
        </p:nvSpPr>
        <p:spPr>
          <a:xfrm>
            <a:off x="2438400" y="1526540"/>
            <a:ext cx="4830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800" b="1" u="sng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49EB18-76DF-DFDB-41CB-194FDC298BB7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97B92E0-F8C4-A78E-A62B-738FC1056AC5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463" name="image1.jpeg">
            <a:extLst>
              <a:ext uri="{FF2B5EF4-FFF2-40B4-BE49-F238E27FC236}">
                <a16:creationId xmlns:a16="http://schemas.microsoft.com/office/drawing/2014/main" id="{455C4448-F18E-8397-E234-3BA529ABA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6649D52-CFE4-1812-A2B4-716F1E5BA7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19465" name="Slide Number Placeholder 8">
            <a:extLst>
              <a:ext uri="{FF2B5EF4-FFF2-40B4-BE49-F238E27FC236}">
                <a16:creationId xmlns:a16="http://schemas.microsoft.com/office/drawing/2014/main" id="{A8248C89-1DDF-6EAE-20B3-5871756CC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8AA4E07-A977-4E8C-AFD7-F694B50E09D6}" type="slidenum">
              <a:rPr lang="en-US" altLang="en-US">
                <a:solidFill>
                  <a:srgbClr val="898989"/>
                </a:solidFill>
              </a:rPr>
              <a:pPr/>
              <a:t>15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52147F4-6EFF-EA23-78B1-554442C5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400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5906DDEE-116F-CD86-0882-FFE3C186A896}"/>
              </a:ext>
            </a:extLst>
          </p:cNvPr>
          <p:cNvSpPr txBox="1"/>
          <p:nvPr/>
        </p:nvSpPr>
        <p:spPr>
          <a:xfrm>
            <a:off x="2179066" y="1295400"/>
            <a:ext cx="563600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 OF PROJECT </a:t>
            </a:r>
            <a:endParaRPr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B62E8209-0BEF-9CF2-4A0C-251513B7D486}"/>
              </a:ext>
            </a:extLst>
          </p:cNvPr>
          <p:cNvSpPr txBox="1"/>
          <p:nvPr/>
        </p:nvSpPr>
        <p:spPr>
          <a:xfrm>
            <a:off x="659003" y="1976234"/>
            <a:ext cx="7825993" cy="3586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privacy and security in digital communication.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sensitive data from unauthorized access.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awareness of cybersecurity and safe data sharing.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secure sharing of confidential information in education healthcare, and business.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encourages the adoption of advanced steganography and encryption techniques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7EC89-8CD9-7637-9FF0-84C1B388F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3AEDF5-6EB2-426C-B0F1-990B759A69A1}" type="datetime1">
              <a:rPr lang="en-US" smtClean="0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11AD60-667F-F5D7-194A-D37738CF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553200" cy="501650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09B8B-4F57-71A3-ED94-47D6E71C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0B15-B440-42E4-91A4-DF9568254A04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AAAB6CFE-EBC9-8E1D-9832-A0AB059237F1}"/>
              </a:ext>
            </a:extLst>
          </p:cNvPr>
          <p:cNvSpPr txBox="1"/>
          <p:nvPr/>
        </p:nvSpPr>
        <p:spPr>
          <a:xfrm>
            <a:off x="1905000" y="1204278"/>
            <a:ext cx="4830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D93359-2CDA-FBC8-5D65-8036DE4FD1F4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9" name="image1.jpeg">
            <a:extLst>
              <a:ext uri="{FF2B5EF4-FFF2-40B4-BE49-F238E27FC236}">
                <a16:creationId xmlns:a16="http://schemas.microsoft.com/office/drawing/2014/main" id="{56A65E2A-F7BD-530B-1D00-A823A0413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81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59AC281-DA54-6500-48D9-DF9DEE5F0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042036"/>
              </p:ext>
            </p:extLst>
          </p:nvPr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D2D04CFC-2074-E659-2EB9-867B202B2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92989"/>
            <a:ext cx="7848600" cy="462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126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84B8-AC85-193E-67BA-3005D34D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E93F3F-B266-95F6-1A62-A980DBF70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3AEDF5-6EB2-426C-B0F1-990B759A69A1}" type="datetime1">
              <a:rPr lang="en-US" smtClean="0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44849-0979-E214-260A-A7B085D56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6477000" cy="425450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616C4-F24E-7023-603D-7D876054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0B15-B440-42E4-91A4-DF9568254A04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0183FC-8C9A-D815-2D51-A43C18BC15BB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9" name="image1.jpeg">
            <a:extLst>
              <a:ext uri="{FF2B5EF4-FFF2-40B4-BE49-F238E27FC236}">
                <a16:creationId xmlns:a16="http://schemas.microsoft.com/office/drawing/2014/main" id="{5BD2DA07-46AE-86CF-6FF9-CB2304DA8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81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BB4D897-1EF2-1B17-9F0A-294EA9CFB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352573"/>
              </p:ext>
            </p:extLst>
          </p:nvPr>
        </p:nvGraphicFramePr>
        <p:xfrm>
          <a:off x="1371600" y="76200"/>
          <a:ext cx="6477000" cy="1225916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05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9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8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4E8B077-2682-3FA4-8AB2-FEFCF07D5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393397"/>
            <a:ext cx="8458200" cy="487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70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FE6E-14DF-B42B-4C99-473572CD1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65C5F-90E3-E2C4-7133-FA110739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3AEDF5-6EB2-426C-B0F1-990B759A69A1}" type="datetime1">
              <a:rPr lang="en-US" smtClean="0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F5845A-F570-136E-0BF4-6E11F447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477000" cy="425450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7153E-706B-8E04-352E-450F5E05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0B15-B440-42E4-91A4-DF9568254A04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455D41-C1E8-3AA4-B95E-C2E74D8F27D9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9" name="image1.jpeg">
            <a:extLst>
              <a:ext uri="{FF2B5EF4-FFF2-40B4-BE49-F238E27FC236}">
                <a16:creationId xmlns:a16="http://schemas.microsoft.com/office/drawing/2014/main" id="{98E31CCF-45E9-5EDB-C306-18EE88EA9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81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271EB91-4E2D-80A2-8C6E-62E838E63A18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39D9AEC-BCE2-9BDA-8314-CF45C2963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5400"/>
            <a:ext cx="8382000" cy="469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926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38B1C-89DF-563B-91F1-EBC4871BC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4AB072-23DB-F1CC-0A77-87CC04122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3AEDF5-6EB2-426C-B0F1-990B759A69A1}" type="datetime1">
              <a:rPr lang="en-US" smtClean="0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0BBA8-936E-4F70-4E1C-3EA42F88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477000" cy="425450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2822F-F8B6-4AD4-C4C3-FE53E4394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0B15-B440-42E4-91A4-DF9568254A04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C0F8C2-50D9-7317-8782-DA99E6ACEA40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9" name="image1.jpeg">
            <a:extLst>
              <a:ext uri="{FF2B5EF4-FFF2-40B4-BE49-F238E27FC236}">
                <a16:creationId xmlns:a16="http://schemas.microsoft.com/office/drawing/2014/main" id="{0E04369B-20DA-A860-5B4C-463523554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81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3EB9483-20D1-7A2F-0F77-5501E47413ED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FB8CD0B-E2C5-5391-FD17-E9BC81D15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95400"/>
            <a:ext cx="8534400" cy="469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15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D453-4E7F-1A79-2794-9B6123A5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FA3DD-8A9A-9A77-0D91-845726D98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3AEDF5-6EB2-426C-B0F1-990B759A69A1}" type="datetime1">
              <a:rPr lang="en-US" smtClean="0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A5F3C-C953-F8A3-10AC-C35CBDE94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477000" cy="425450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8278A3-83BD-1165-1146-B20915C0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C0B15-B440-42E4-91A4-DF9568254A04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56DF9C-A966-38F6-1225-47E8E79302CC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pic>
        <p:nvPicPr>
          <p:cNvPr id="9" name="image1.jpeg">
            <a:extLst>
              <a:ext uri="{FF2B5EF4-FFF2-40B4-BE49-F238E27FC236}">
                <a16:creationId xmlns:a16="http://schemas.microsoft.com/office/drawing/2014/main" id="{F01C9184-3FE4-06AE-6E25-321457C4E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67481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5434F17-66AC-43FE-E411-0547C828AF5F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BE72422-3817-E54E-E398-89E3BBFE9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5399"/>
            <a:ext cx="8229600" cy="460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36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DD8892-4576-F571-C0B2-C9F2CBF6BE60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5AE4966-1320-CA20-304E-7A8DCFBA6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421434"/>
              </p:ext>
            </p:extLst>
          </p:nvPr>
        </p:nvGraphicFramePr>
        <p:xfrm>
          <a:off x="1371600" y="76200"/>
          <a:ext cx="6477000" cy="1524000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Lonikand, Pune – 412216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0487" name="image1.jpeg">
            <a:extLst>
              <a:ext uri="{FF2B5EF4-FFF2-40B4-BE49-F238E27FC236}">
                <a16:creationId xmlns:a16="http://schemas.microsoft.com/office/drawing/2014/main" id="{7B9B4F96-43C7-084C-B6ED-9D072A35A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C7EEED-803D-4911-0D51-127DF6E994E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20489" name="Slide Number Placeholder 8">
            <a:extLst>
              <a:ext uri="{FF2B5EF4-FFF2-40B4-BE49-F238E27FC236}">
                <a16:creationId xmlns:a16="http://schemas.microsoft.com/office/drawing/2014/main" id="{0BCA3120-EE24-4813-692A-8767AE1D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CC31FE5-B4EE-4411-ABB7-FC185323EE23}" type="slidenum">
              <a:rPr lang="en-US" altLang="en-US">
                <a:solidFill>
                  <a:srgbClr val="898989"/>
                </a:solidFill>
              </a:rPr>
              <a:pPr/>
              <a:t>21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2F17FBA-356C-B5D9-E08B-9557614F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6400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AAAB6CFE-EBC9-8E1D-9832-A0AB059237F1}"/>
              </a:ext>
            </a:extLst>
          </p:cNvPr>
          <p:cNvSpPr txBox="1"/>
          <p:nvPr/>
        </p:nvSpPr>
        <p:spPr>
          <a:xfrm>
            <a:off x="1905000" y="1204278"/>
            <a:ext cx="4830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6">
            <a:extLst>
              <a:ext uri="{FF2B5EF4-FFF2-40B4-BE49-F238E27FC236}">
                <a16:creationId xmlns:a16="http://schemas.microsoft.com/office/drawing/2014/main" id="{AC624011-41B0-C1E2-3E8E-6A6F1EE4AC30}"/>
              </a:ext>
            </a:extLst>
          </p:cNvPr>
          <p:cNvSpPr txBox="1"/>
          <p:nvPr/>
        </p:nvSpPr>
        <p:spPr>
          <a:xfrm>
            <a:off x="304800" y="2288377"/>
            <a:ext cx="8610600" cy="336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Islam, A. U. (2018). An Improved Image Steganography Technique Based on MSB Using Bit Differencing. INTECH Conference.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Rehman, M. (2020). Deep Learning-Based Image Steganography Using CNN Encoder-Decoder Framework. IEEE Access.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Younus, M. (2021). Enhanced LSB Video Steganography Using Key Functional Technique. International Journal of Information Security.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C76C00-32CE-7104-CCBC-4F750F994ABD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EC0B5BC-E07E-1D97-072F-FF26D5E64281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1511" name="image1.jpeg">
            <a:extLst>
              <a:ext uri="{FF2B5EF4-FFF2-40B4-BE49-F238E27FC236}">
                <a16:creationId xmlns:a16="http://schemas.microsoft.com/office/drawing/2014/main" id="{1AA5911F-18EE-8E9C-F8C6-C04790B83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4F8673B-922A-3049-1615-F7EA9B058E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21513" name="Slide Number Placeholder 8">
            <a:extLst>
              <a:ext uri="{FF2B5EF4-FFF2-40B4-BE49-F238E27FC236}">
                <a16:creationId xmlns:a16="http://schemas.microsoft.com/office/drawing/2014/main" id="{91406E15-56AC-5C23-E283-4CEB260A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CD39EB8-93A5-4563-A9A5-150B37879D14}" type="slidenum">
              <a:rPr lang="en-US" altLang="en-US">
                <a:solidFill>
                  <a:srgbClr val="898989"/>
                </a:solidFill>
              </a:rPr>
              <a:pPr/>
              <a:t>22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991CDFB-F0F1-0776-3A64-62326E32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399" y="6356350"/>
            <a:ext cx="6492875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287724A0-55CD-D33D-FAE6-5234004BAD2B}"/>
              </a:ext>
            </a:extLst>
          </p:cNvPr>
          <p:cNvSpPr txBox="1"/>
          <p:nvPr/>
        </p:nvSpPr>
        <p:spPr>
          <a:xfrm>
            <a:off x="1981200" y="1204278"/>
            <a:ext cx="4830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kern="0"/>
            </a:defPPr>
          </a:lstStyle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2EB7BAE-3E85-F4B7-0241-03A3E5ED1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889851"/>
            <a:ext cx="8093075" cy="449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pPr marL="108585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b="1" dirty="0">
                <a:latin typeface="LubalGraph Md BT" pitchFamily="18" charset="0"/>
              </a:rPr>
              <a:t> 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Successfully developed a unified application for secure data hiding in images and audio.</a:t>
            </a:r>
          </a:p>
          <a:p>
            <a:pPr marL="108585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hybrid approach (AES + LSB) enhances security and optimizes embedding.</a:t>
            </a:r>
          </a:p>
          <a:p>
            <a:pPr marL="108585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The system is user-friendly, with a complete GUI for all operations from login to transmission.</a:t>
            </a:r>
          </a:p>
          <a:p>
            <a:pPr marL="1085850" lvl="1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This project provides a robust tool for secure and covert communication, mitigating risks of data theft.</a:t>
            </a:r>
          </a:p>
          <a:p>
            <a:pPr>
              <a:defRPr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88518-E99A-3A5F-9627-57EF8A99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2F0989-E7A5-99E7-3B8C-18CE2DF78A46}"/>
              </a:ext>
            </a:extLst>
          </p:cNvPr>
          <p:cNvSpPr/>
          <p:nvPr/>
        </p:nvSpPr>
        <p:spPr>
          <a:xfrm>
            <a:off x="0" y="76200"/>
            <a:ext cx="9144000" cy="990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B0D52FC-916E-D16A-E8D1-4BE25E442D3A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76200"/>
          <a:ext cx="6477000" cy="1354138"/>
        </p:xfrm>
        <a:graphic>
          <a:graphicData uri="http://schemas.openxmlformats.org/drawingml/2006/table">
            <a:tbl>
              <a:tblPr/>
              <a:tblGrid>
                <a:gridCol w="64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13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SRES’s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5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Calibri" pitchFamily="34" charset="0"/>
                          <a:cs typeface="Times New Roman" pitchFamily="18" charset="0"/>
                        </a:rPr>
                        <a:t>SHREE RAMCHANDRA COLLEGE OF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Lonikand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Pune – 412216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Department of Computer Engineering</a:t>
                      </a: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1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1600"/>
                        </a:lnSpc>
                        <a:spcBef>
                          <a:spcPts val="5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58967" marR="58967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1511" name="image1.jpeg">
            <a:extLst>
              <a:ext uri="{FF2B5EF4-FFF2-40B4-BE49-F238E27FC236}">
                <a16:creationId xmlns:a16="http://schemas.microsoft.com/office/drawing/2014/main" id="{E57F73B6-A3BA-BD9E-097F-2F9369C04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"/>
            <a:ext cx="118745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7BA8DB4-76DF-FCA2-5A1C-8035EFD482E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2EAB15D-C16A-4D1F-B5DA-EE6CFEF7CF05}" type="datetime1">
              <a:rPr lang="en-US"/>
              <a:pPr>
                <a:defRPr/>
              </a:pPr>
              <a:t>11/12/2025</a:t>
            </a:fld>
            <a:endParaRPr lang="en-US"/>
          </a:p>
        </p:txBody>
      </p:sp>
      <p:sp>
        <p:nvSpPr>
          <p:cNvPr id="21513" name="Slide Number Placeholder 8">
            <a:extLst>
              <a:ext uri="{FF2B5EF4-FFF2-40B4-BE49-F238E27FC236}">
                <a16:creationId xmlns:a16="http://schemas.microsoft.com/office/drawing/2014/main" id="{1D3DBB9C-F5F4-19D6-05DF-133C6F73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CD39EB8-93A5-4563-A9A5-150B37879D14}" type="slidenum">
              <a:rPr lang="en-US" altLang="en-US">
                <a:solidFill>
                  <a:srgbClr val="898989"/>
                </a:solidFill>
              </a:rPr>
              <a:pPr/>
              <a:t>23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FD27E7C-23DE-A279-08BA-4A326BD62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64770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Secure Data Transmission using Data Steganography with LSB Algorithm in Java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59A1EE-3350-DF80-FD22-A3BFD8E03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725" y="2890837"/>
            <a:ext cx="363855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3993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1199</TotalTime>
  <Words>1539</Words>
  <Application>Microsoft Office PowerPoint</Application>
  <PresentationFormat>On-screen Show (4:3)</PresentationFormat>
  <Paragraphs>278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Cambria</vt:lpstr>
      <vt:lpstr>LubalGraph Md BT</vt:lpstr>
      <vt:lpstr>Times New Roman</vt:lpstr>
      <vt:lpstr>Verdana</vt:lpstr>
      <vt:lpstr>Wingdings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JSPM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ICOER</dc:creator>
  <cp:lastModifiedBy>tanuja dhere</cp:lastModifiedBy>
  <cp:revision>153</cp:revision>
  <cp:lastPrinted>1601-01-01T00:00:00Z</cp:lastPrinted>
  <dcterms:created xsi:type="dcterms:W3CDTF">2011-08-20T09:22:52Z</dcterms:created>
  <dcterms:modified xsi:type="dcterms:W3CDTF">2025-11-12T16:54:55Z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TC102037681033</vt:lpwstr>
  </property>
</Properties>
</file>